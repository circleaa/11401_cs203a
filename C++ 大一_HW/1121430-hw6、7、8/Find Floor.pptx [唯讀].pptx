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3" r:id="rId2"/>
    <p:sldId id="452" r:id="rId3"/>
    <p:sldId id="453" r:id="rId4"/>
    <p:sldId id="394" r:id="rId5"/>
    <p:sldId id="454" r:id="rId6"/>
    <p:sldId id="455" r:id="rId7"/>
    <p:sldId id="456" r:id="rId8"/>
    <p:sldId id="457" r:id="rId9"/>
    <p:sldId id="458" r:id="rId10"/>
    <p:sldId id="459" r:id="rId11"/>
    <p:sldId id="460" r:id="rId12"/>
    <p:sldId id="482" r:id="rId13"/>
    <p:sldId id="395" r:id="rId14"/>
    <p:sldId id="462" r:id="rId15"/>
    <p:sldId id="463" r:id="rId16"/>
    <p:sldId id="464" r:id="rId17"/>
    <p:sldId id="465" r:id="rId18"/>
    <p:sldId id="466" r:id="rId19"/>
    <p:sldId id="467" r:id="rId20"/>
    <p:sldId id="468" r:id="rId21"/>
    <p:sldId id="469" r:id="rId22"/>
    <p:sldId id="470" r:id="rId23"/>
    <p:sldId id="483" r:id="rId24"/>
    <p:sldId id="471" r:id="rId25"/>
    <p:sldId id="472" r:id="rId26"/>
    <p:sldId id="473" r:id="rId27"/>
    <p:sldId id="474" r:id="rId28"/>
    <p:sldId id="475" r:id="rId29"/>
    <p:sldId id="476" r:id="rId30"/>
    <p:sldId id="477" r:id="rId31"/>
    <p:sldId id="478" r:id="rId32"/>
    <p:sldId id="479" r:id="rId33"/>
    <p:sldId id="480" r:id="rId34"/>
    <p:sldId id="481" r:id="rId35"/>
    <p:sldId id="484" r:id="rId3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>
          <p15:clr>
            <a:srgbClr val="A4A3A4"/>
          </p15:clr>
        </p15:guide>
        <p15:guide id="2" pos="8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C"/>
    <a:srgbClr val="CC3300"/>
    <a:srgbClr val="002060"/>
    <a:srgbClr val="003366"/>
    <a:srgbClr val="00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0" autoAdjust="0"/>
    <p:restoredTop sz="94627" autoAdjust="0"/>
  </p:normalViewPr>
  <p:slideViewPr>
    <p:cSldViewPr showGuides="1">
      <p:cViewPr varScale="1">
        <p:scale>
          <a:sx n="52" d="100"/>
          <a:sy n="52" d="100"/>
        </p:scale>
        <p:origin x="1334" y="38"/>
      </p:cViewPr>
      <p:guideLst>
        <p:guide orient="horz" pos="618"/>
        <p:guide pos="884"/>
      </p:guideLst>
    </p:cSldViewPr>
  </p:slideViewPr>
  <p:outlineViewPr>
    <p:cViewPr>
      <p:scale>
        <a:sx n="33" d="100"/>
        <a:sy n="33" d="100"/>
      </p:scale>
      <p:origin x="34" y="3365"/>
    </p:cViewPr>
  </p:outlineViewPr>
  <p:notesTextViewPr>
    <p:cViewPr>
      <p:scale>
        <a:sx n="100" d="100"/>
        <a:sy n="100" d="100"/>
      </p:scale>
      <p:origin x="0" y="0"/>
    </p:cViewPr>
  </p:notesTextViewPr>
  <p:gridSpacing cx="180023" cy="180023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51448" y="2708908"/>
            <a:ext cx="8641104" cy="1440185"/>
          </a:xfrm>
        </p:spPr>
        <p:txBody>
          <a:bodyPr/>
          <a:lstStyle>
            <a:lvl1pPr>
              <a:defRPr sz="54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Tx/>
              <a:buNone/>
              <a:defRPr sz="1600">
                <a:latin typeface="+mn-lt"/>
                <a:cs typeface="Times New Roman" pitchFamily="18" charset="0"/>
              </a:defRPr>
            </a:lvl1pPr>
            <a:lvl2pPr>
              <a:defRPr sz="2400"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0" y="548632"/>
            <a:ext cx="8281059" cy="5759718"/>
          </a:xfrm>
        </p:spPr>
        <p:txBody>
          <a:bodyPr>
            <a:normAutofit/>
          </a:bodyPr>
          <a:lstStyle>
            <a:lvl1pPr>
              <a:buFontTx/>
              <a:buNone/>
              <a:defRPr sz="1600">
                <a:latin typeface="+mn-lt"/>
                <a:cs typeface="Times New Roman" pitchFamily="18" charset="0"/>
              </a:defRPr>
            </a:lvl1pPr>
            <a:lvl2pPr>
              <a:defRPr sz="2400"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2" y="368609"/>
            <a:ext cx="4320552" cy="4320552"/>
          </a:xfrm>
        </p:spPr>
        <p:txBody>
          <a:bodyPr>
            <a:normAutofit/>
          </a:bodyPr>
          <a:lstStyle>
            <a:lvl1pPr>
              <a:buFontTx/>
              <a:buNone/>
              <a:defRPr sz="1600">
                <a:latin typeface="+mn-lt"/>
                <a:cs typeface="Times New Roman" pitchFamily="18" charset="0"/>
              </a:defRPr>
            </a:lvl1pPr>
            <a:lvl2pPr>
              <a:defRPr sz="2400"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590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1471" y="188586"/>
            <a:ext cx="8281058" cy="90011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31471" y="188586"/>
            <a:ext cx="8281058" cy="90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31471" y="1268724"/>
            <a:ext cx="8281058" cy="5040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61" r:id="rId4"/>
    <p:sldLayoutId id="2147483659" r:id="rId5"/>
    <p:sldLayoutId id="2147483660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000FF"/>
          </a:solidFill>
          <a:latin typeface="+mj-lt"/>
          <a:ea typeface="+mj-ea"/>
          <a:cs typeface="Times New Roman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2060"/>
          </a:solidFill>
          <a:latin typeface="Times New Roman" charset="0"/>
          <a:ea typeface="標楷體" pitchFamily="65" charset="-120"/>
          <a:cs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2060"/>
          </a:solidFill>
          <a:latin typeface="Times New Roman" charset="0"/>
          <a:ea typeface="標楷體" pitchFamily="65" charset="-120"/>
          <a:cs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2060"/>
          </a:solidFill>
          <a:latin typeface="Times New Roman" charset="0"/>
          <a:ea typeface="標楷體" pitchFamily="65" charset="-120"/>
          <a:cs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2060"/>
          </a:solidFill>
          <a:latin typeface="Times New Roman" charset="0"/>
          <a:ea typeface="標楷體" pitchFamily="65" charset="-120"/>
          <a:cs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2060"/>
          </a:solidFill>
          <a:latin typeface="Times New Roman" charset="0"/>
          <a:ea typeface="新細明體" charset="-120"/>
          <a:cs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2060"/>
          </a:solidFill>
          <a:latin typeface="Times New Roman" charset="0"/>
          <a:ea typeface="新細明體" charset="-120"/>
          <a:cs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2060"/>
          </a:solidFill>
          <a:latin typeface="Times New Roman" charset="0"/>
          <a:ea typeface="新細明體" charset="-120"/>
          <a:cs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2060"/>
          </a:solidFill>
          <a:latin typeface="Times New Roman" charset="0"/>
          <a:ea typeface="新細明體" charset="-120"/>
          <a:cs typeface="Times New Roman" charset="0"/>
        </a:defRPr>
      </a:lvl9pPr>
    </p:titleStyle>
    <p:bodyStyle>
      <a:lvl1pPr marL="0" indent="0" algn="l" rtl="0" eaLnBrk="0" fontAlgn="base" hangingPunct="0">
        <a:spcBef>
          <a:spcPts val="0"/>
        </a:spcBef>
        <a:spcAft>
          <a:spcPct val="0"/>
        </a:spcAft>
        <a:buClrTx/>
        <a:buFontTx/>
        <a:buNone/>
        <a:defRPr sz="16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TW" kern="0" dirty="0">
                <a:ea typeface="新細明體"/>
                <a:cs typeface="+mj-cs"/>
              </a:rPr>
              <a:t>Find Floor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0965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arraySize;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data[ i ] = 2 * i;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arraySize;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( 3 )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arraySize; i++ )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nn-NO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setw( 3 ) </a:t>
            </a:r>
            <a:r>
              <a:rPr lang="nn-NO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i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9;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use binary search to find i in [ 0 .. arraySize - 1 ]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such that data[ i ] &lt;= number and number &lt; data[ i + 1 ]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findFloor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data, arraySize, number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( 3 )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position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( 3 )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position ]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kumimoji="1" lang="en-US" altLang="zh-TW" kern="0" dirty="0">
              <a:solidFill>
                <a:srgbClr val="000000"/>
              </a:solidFill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0220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findFloor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middle = ( low + high ) 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middle - 1;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middle + 1;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middle--;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8783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720994"/>
              </p:ext>
            </p:extLst>
          </p:nvPr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ctr"/>
            <a:r>
              <a:rPr lang="en-US" altLang="zh-TW" sz="1600" dirty="0">
                <a:latin typeface="+mn-lt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0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14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algn="ctr"/>
            <a:r>
              <a:rPr lang="en-US" altLang="zh-TW" sz="1600" dirty="0">
                <a:solidFill>
                  <a:schemeClr val="bg1"/>
                </a:solidFill>
                <a:latin typeface="Lucida Console" panose="020B0609040504020204" pitchFamily="49" charset="0"/>
              </a:rPr>
              <a:t>7</a:t>
            </a:r>
            <a:endParaRPr lang="zh-TW" altLang="en-US" sz="16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r"/>
            <a:r>
              <a:rPr lang="en-US" altLang="zh-TW" sz="1600" dirty="0">
                <a:latin typeface="+mn-lt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H="1" flipV="1">
            <a:off x="3493450" y="5589277"/>
            <a:ext cx="718481" cy="540068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r>
              <a:rPr lang="en-US" altLang="zh-TW" sz="1600" dirty="0">
                <a:latin typeface="+mn-lt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</p:cNvCxnSpPr>
          <p:nvPr/>
        </p:nvCxnSpPr>
        <p:spPr>
          <a:xfrm flipV="1">
            <a:off x="6732253" y="5589276"/>
            <a:ext cx="180025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8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r"/>
            <a:r>
              <a:rPr lang="en-US" altLang="zh-TW" sz="1600" dirty="0">
                <a:latin typeface="+mn-lt"/>
              </a:rPr>
              <a:t>number</a:t>
            </a:r>
          </a:p>
        </p:txBody>
      </p:sp>
    </p:spTree>
    <p:extLst>
      <p:ext uri="{BB962C8B-B14F-4D97-AF65-F5344CB8AC3E}">
        <p14:creationId xmlns:p14="http://schemas.microsoft.com/office/powerpoint/2010/main" val="362970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720994"/>
              </p:ext>
            </p:extLst>
          </p:nvPr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ctr"/>
            <a:r>
              <a:rPr lang="en-US" altLang="zh-TW" sz="1600" dirty="0">
                <a:latin typeface="+mn-lt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0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14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7</a:t>
            </a:r>
            <a:endParaRPr lang="zh-TW" altLang="en-US" sz="16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r"/>
            <a:r>
              <a:rPr lang="en-US" altLang="zh-TW" sz="1600" dirty="0">
                <a:latin typeface="+mn-lt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H="1" flipV="1">
            <a:off x="3493450" y="5589277"/>
            <a:ext cx="718481" cy="540068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r>
              <a:rPr lang="en-US" altLang="zh-TW" sz="1600" dirty="0">
                <a:latin typeface="+mn-lt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</p:cNvCxnSpPr>
          <p:nvPr/>
        </p:nvCxnSpPr>
        <p:spPr>
          <a:xfrm flipV="1">
            <a:off x="6732253" y="5589276"/>
            <a:ext cx="180025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8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r"/>
            <a:r>
              <a:rPr lang="en-US" altLang="zh-TW" sz="1600" dirty="0">
                <a:latin typeface="+mn-lt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>
            <a:off x="5652138" y="4689161"/>
            <a:ext cx="360046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048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712116"/>
              </p:ext>
            </p:extLst>
          </p:nvPr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ctr"/>
            <a:r>
              <a:rPr lang="en-US" altLang="zh-TW" sz="1600" dirty="0">
                <a:latin typeface="+mn-lt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0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6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7</a:t>
            </a:r>
            <a:endParaRPr lang="zh-TW" altLang="en-US" sz="16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r"/>
            <a:r>
              <a:rPr lang="en-US" altLang="zh-TW" sz="1600" dirty="0">
                <a:latin typeface="+mn-lt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H="1" flipV="1">
            <a:off x="3493450" y="5589277"/>
            <a:ext cx="718481" cy="540068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r>
              <a:rPr lang="en-US" altLang="zh-TW" sz="1600" dirty="0">
                <a:latin typeface="+mn-lt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  <a:endCxn id="14" idx="2"/>
          </p:cNvCxnSpPr>
          <p:nvPr/>
        </p:nvCxnSpPr>
        <p:spPr>
          <a:xfrm flipH="1" flipV="1">
            <a:off x="5651747" y="5589184"/>
            <a:ext cx="1080506" cy="54016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8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r"/>
            <a:r>
              <a:rPr lang="en-US" altLang="zh-TW" sz="1600" dirty="0">
                <a:latin typeface="+mn-lt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>
            <a:off x="5652138" y="4689161"/>
            <a:ext cx="360046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378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712116"/>
              </p:ext>
            </p:extLst>
          </p:nvPr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ctr"/>
            <a:r>
              <a:rPr lang="en-US" altLang="zh-TW" sz="1600" dirty="0">
                <a:latin typeface="+mn-lt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0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6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3</a:t>
            </a:r>
            <a:endParaRPr lang="zh-TW" altLang="en-US" sz="16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r"/>
            <a:r>
              <a:rPr lang="en-US" altLang="zh-TW" sz="1600" dirty="0">
                <a:latin typeface="+mn-lt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H="1" flipV="1">
            <a:off x="3493450" y="5589277"/>
            <a:ext cx="718481" cy="540068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r>
              <a:rPr lang="en-US" altLang="zh-TW" sz="1600" dirty="0">
                <a:latin typeface="+mn-lt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  <a:endCxn id="14" idx="2"/>
          </p:cNvCxnSpPr>
          <p:nvPr/>
        </p:nvCxnSpPr>
        <p:spPr>
          <a:xfrm flipH="1" flipV="1">
            <a:off x="5651747" y="5589184"/>
            <a:ext cx="1080506" cy="54016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8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r"/>
            <a:r>
              <a:rPr lang="en-US" altLang="zh-TW" sz="1600" dirty="0">
                <a:latin typeface="+mn-lt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4572000" y="4689161"/>
            <a:ext cx="1080138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539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079605"/>
              </p:ext>
            </p:extLst>
          </p:nvPr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ctr"/>
            <a:r>
              <a:rPr lang="en-US" altLang="zh-TW" sz="1600" dirty="0">
                <a:latin typeface="+mn-lt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4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6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3</a:t>
            </a:r>
            <a:endParaRPr lang="zh-TW" altLang="en-US" sz="16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r"/>
            <a:r>
              <a:rPr lang="en-US" altLang="zh-TW" sz="1600" dirty="0">
                <a:latin typeface="+mn-lt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V="1">
            <a:off x="4211931" y="5589276"/>
            <a:ext cx="72011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r>
              <a:rPr lang="en-US" altLang="zh-TW" sz="1600" dirty="0">
                <a:latin typeface="+mn-lt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  <a:endCxn id="14" idx="2"/>
          </p:cNvCxnSpPr>
          <p:nvPr/>
        </p:nvCxnSpPr>
        <p:spPr>
          <a:xfrm flipH="1" flipV="1">
            <a:off x="5651747" y="5589184"/>
            <a:ext cx="1080506" cy="54016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8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r"/>
            <a:r>
              <a:rPr lang="en-US" altLang="zh-TW" sz="1600" dirty="0">
                <a:latin typeface="+mn-lt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4572000" y="4689161"/>
            <a:ext cx="1080138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736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079605"/>
              </p:ext>
            </p:extLst>
          </p:nvPr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ctr"/>
            <a:r>
              <a:rPr lang="en-US" altLang="zh-TW" sz="1600" dirty="0">
                <a:latin typeface="+mn-lt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4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6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5</a:t>
            </a:r>
            <a:endParaRPr lang="zh-TW" altLang="en-US" sz="16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r"/>
            <a:r>
              <a:rPr lang="en-US" altLang="zh-TW" sz="1600" dirty="0">
                <a:latin typeface="+mn-lt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V="1">
            <a:off x="4211931" y="5589276"/>
            <a:ext cx="72011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r>
              <a:rPr lang="en-US" altLang="zh-TW" sz="1600" dirty="0">
                <a:latin typeface="+mn-lt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  <a:endCxn id="14" idx="2"/>
          </p:cNvCxnSpPr>
          <p:nvPr/>
        </p:nvCxnSpPr>
        <p:spPr>
          <a:xfrm flipH="1" flipV="1">
            <a:off x="5651747" y="5589184"/>
            <a:ext cx="1080506" cy="54016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8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r"/>
            <a:r>
              <a:rPr lang="en-US" altLang="zh-TW" sz="1600" dirty="0">
                <a:latin typeface="+mn-lt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5292092" y="4689161"/>
            <a:ext cx="360046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107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101920"/>
              </p:ext>
            </p:extLst>
          </p:nvPr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ctr"/>
            <a:r>
              <a:rPr lang="en-US" altLang="zh-TW" sz="1600" dirty="0">
                <a:latin typeface="+mn-lt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4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4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5</a:t>
            </a:r>
            <a:endParaRPr lang="zh-TW" altLang="en-US" sz="16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r"/>
            <a:r>
              <a:rPr lang="en-US" altLang="zh-TW" sz="1600" dirty="0">
                <a:latin typeface="+mn-lt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V="1">
            <a:off x="4211931" y="5589276"/>
            <a:ext cx="72011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r>
              <a:rPr lang="en-US" altLang="zh-TW" sz="1600" dirty="0">
                <a:latin typeface="+mn-lt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</p:cNvCxnSpPr>
          <p:nvPr/>
        </p:nvCxnSpPr>
        <p:spPr>
          <a:xfrm flipH="1" flipV="1">
            <a:off x="4932046" y="5589276"/>
            <a:ext cx="1800207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8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r"/>
            <a:r>
              <a:rPr lang="en-US" altLang="zh-TW" sz="1600" dirty="0">
                <a:latin typeface="+mn-lt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5292092" y="4689161"/>
            <a:ext cx="360046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83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101920"/>
              </p:ext>
            </p:extLst>
          </p:nvPr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ctr"/>
            <a:r>
              <a:rPr lang="en-US" altLang="zh-TW" sz="1600" dirty="0">
                <a:latin typeface="+mn-lt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4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4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4</a:t>
            </a:r>
            <a:endParaRPr lang="zh-TW" altLang="en-US" sz="16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r"/>
            <a:r>
              <a:rPr lang="en-US" altLang="zh-TW" sz="1600" dirty="0">
                <a:latin typeface="+mn-lt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V="1">
            <a:off x="4211931" y="5589276"/>
            <a:ext cx="72011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r>
              <a:rPr lang="en-US" altLang="zh-TW" sz="1600" dirty="0">
                <a:latin typeface="+mn-lt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</p:cNvCxnSpPr>
          <p:nvPr/>
        </p:nvCxnSpPr>
        <p:spPr>
          <a:xfrm flipH="1" flipV="1">
            <a:off x="4932046" y="5589276"/>
            <a:ext cx="1800207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r>
              <a:rPr lang="en-US" altLang="zh-TW" sz="1600" dirty="0">
                <a:latin typeface="Lucida Console" panose="020B0609040504020204" pitchFamily="49" charset="0"/>
              </a:rPr>
              <a:t>8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algn="r"/>
            <a:r>
              <a:rPr lang="en-US" altLang="zh-TW" sz="1600" dirty="0">
                <a:latin typeface="+mn-lt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4932046" y="4689161"/>
            <a:ext cx="720092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754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findFloor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middle = ( low + high ) 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middle - 1;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middle + 1;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middle--;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0198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392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/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14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7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H="1" flipV="1">
            <a:off x="3493450" y="5589277"/>
            <a:ext cx="718481" cy="540068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</p:cNvCxnSpPr>
          <p:nvPr/>
        </p:nvCxnSpPr>
        <p:spPr>
          <a:xfrm flipV="1">
            <a:off x="6732253" y="5589276"/>
            <a:ext cx="180025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9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</p:spTree>
    <p:extLst>
      <p:ext uri="{BB962C8B-B14F-4D97-AF65-F5344CB8AC3E}">
        <p14:creationId xmlns:p14="http://schemas.microsoft.com/office/powerpoint/2010/main" val="4187059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/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14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7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H="1" flipV="1">
            <a:off x="3493450" y="5589277"/>
            <a:ext cx="718481" cy="540068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</p:cNvCxnSpPr>
          <p:nvPr/>
        </p:nvCxnSpPr>
        <p:spPr>
          <a:xfrm flipV="1">
            <a:off x="6732253" y="5589276"/>
            <a:ext cx="180025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9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>
            <a:off x="5652138" y="4689161"/>
            <a:ext cx="360046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625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/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6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7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H="1" flipV="1">
            <a:off x="3493450" y="5589277"/>
            <a:ext cx="718481" cy="540068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  <a:endCxn id="14" idx="2"/>
          </p:cNvCxnSpPr>
          <p:nvPr/>
        </p:nvCxnSpPr>
        <p:spPr>
          <a:xfrm flipH="1" flipV="1">
            <a:off x="5651747" y="5589184"/>
            <a:ext cx="1080506" cy="54016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9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>
            <a:off x="5652138" y="4689161"/>
            <a:ext cx="360046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991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/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6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3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H="1" flipV="1">
            <a:off x="3493450" y="5589277"/>
            <a:ext cx="718481" cy="540068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  <a:endCxn id="14" idx="2"/>
          </p:cNvCxnSpPr>
          <p:nvPr/>
        </p:nvCxnSpPr>
        <p:spPr>
          <a:xfrm flipH="1" flipV="1">
            <a:off x="5651747" y="5589184"/>
            <a:ext cx="1080506" cy="54016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9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4572000" y="4689161"/>
            <a:ext cx="1080138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1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/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6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3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V="1">
            <a:off x="4211931" y="5589276"/>
            <a:ext cx="72011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  <a:endCxn id="14" idx="2"/>
          </p:cNvCxnSpPr>
          <p:nvPr/>
        </p:nvCxnSpPr>
        <p:spPr>
          <a:xfrm flipH="1" flipV="1">
            <a:off x="5651747" y="5589184"/>
            <a:ext cx="1080506" cy="54016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9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4572000" y="4689161"/>
            <a:ext cx="1080138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597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/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6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5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V="1">
            <a:off x="4211931" y="5589276"/>
            <a:ext cx="72011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  <a:endCxn id="14" idx="2"/>
          </p:cNvCxnSpPr>
          <p:nvPr/>
        </p:nvCxnSpPr>
        <p:spPr>
          <a:xfrm flipH="1" flipV="1">
            <a:off x="5651747" y="5589184"/>
            <a:ext cx="1080506" cy="54016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9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5292092" y="4689161"/>
            <a:ext cx="360046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299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/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5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V="1">
            <a:off x="4211931" y="5589276"/>
            <a:ext cx="72011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</p:cNvCxnSpPr>
          <p:nvPr/>
        </p:nvCxnSpPr>
        <p:spPr>
          <a:xfrm flipH="1" flipV="1">
            <a:off x="4932046" y="5589276"/>
            <a:ext cx="1800207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9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5292092" y="4689161"/>
            <a:ext cx="360046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945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/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V="1">
            <a:off x="4211931" y="5589276"/>
            <a:ext cx="72011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</p:cNvCxnSpPr>
          <p:nvPr/>
        </p:nvCxnSpPr>
        <p:spPr>
          <a:xfrm flipH="1" flipV="1">
            <a:off x="4932046" y="5589276"/>
            <a:ext cx="1800207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9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4932046" y="4689161"/>
            <a:ext cx="720092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639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088823"/>
              </p:ext>
            </p:extLst>
          </p:nvPr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5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V="1">
            <a:off x="4211931" y="5589276"/>
            <a:ext cx="1080161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</p:cNvCxnSpPr>
          <p:nvPr/>
        </p:nvCxnSpPr>
        <p:spPr>
          <a:xfrm flipH="1" flipV="1">
            <a:off x="4932046" y="5589276"/>
            <a:ext cx="1800207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9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4932046" y="4689161"/>
            <a:ext cx="720092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331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findFloor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middle = ( low + high ) 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middle - 1;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middle + 1;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middle--;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6185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829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/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14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7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H="1" flipV="1">
            <a:off x="3493450" y="5589277"/>
            <a:ext cx="718481" cy="540068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</p:cNvCxnSpPr>
          <p:nvPr/>
        </p:nvCxnSpPr>
        <p:spPr>
          <a:xfrm flipV="1">
            <a:off x="6732253" y="5589276"/>
            <a:ext cx="180025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7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</p:spTree>
    <p:extLst>
      <p:ext uri="{BB962C8B-B14F-4D97-AF65-F5344CB8AC3E}">
        <p14:creationId xmlns:p14="http://schemas.microsoft.com/office/powerpoint/2010/main" val="172300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/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14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7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H="1" flipV="1">
            <a:off x="3493450" y="5589277"/>
            <a:ext cx="718481" cy="540068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</p:cNvCxnSpPr>
          <p:nvPr/>
        </p:nvCxnSpPr>
        <p:spPr>
          <a:xfrm flipV="1">
            <a:off x="6732253" y="5589276"/>
            <a:ext cx="180025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7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>
            <a:off x="5652138" y="4689161"/>
            <a:ext cx="360046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3440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/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6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7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H="1" flipV="1">
            <a:off x="3493450" y="5589277"/>
            <a:ext cx="718481" cy="540068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  <a:endCxn id="14" idx="2"/>
          </p:cNvCxnSpPr>
          <p:nvPr/>
        </p:nvCxnSpPr>
        <p:spPr>
          <a:xfrm flipH="1" flipV="1">
            <a:off x="5651747" y="5589184"/>
            <a:ext cx="1080506" cy="54016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7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>
            <a:off x="5652138" y="4689161"/>
            <a:ext cx="360046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07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/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6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3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H="1" flipV="1">
            <a:off x="3493450" y="5589277"/>
            <a:ext cx="718481" cy="540068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  <a:endCxn id="14" idx="2"/>
          </p:cNvCxnSpPr>
          <p:nvPr/>
        </p:nvCxnSpPr>
        <p:spPr>
          <a:xfrm flipH="1" flipV="1">
            <a:off x="5651747" y="5589184"/>
            <a:ext cx="1080506" cy="54016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7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4572000" y="4689161"/>
            <a:ext cx="1080138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126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/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6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3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V="1">
            <a:off x="4211931" y="5589276"/>
            <a:ext cx="72011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  <a:endCxn id="14" idx="2"/>
          </p:cNvCxnSpPr>
          <p:nvPr/>
        </p:nvCxnSpPr>
        <p:spPr>
          <a:xfrm flipH="1" flipV="1">
            <a:off x="5651747" y="5589184"/>
            <a:ext cx="1080506" cy="54016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7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4572000" y="4689161"/>
            <a:ext cx="1080138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9480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/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6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5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V="1">
            <a:off x="4211931" y="5589276"/>
            <a:ext cx="72011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  <a:endCxn id="14" idx="2"/>
          </p:cNvCxnSpPr>
          <p:nvPr/>
        </p:nvCxnSpPr>
        <p:spPr>
          <a:xfrm flipH="1" flipV="1">
            <a:off x="5651747" y="5589184"/>
            <a:ext cx="1080506" cy="54016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7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5292092" y="4689161"/>
            <a:ext cx="360046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7437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/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5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V="1">
            <a:off x="4211931" y="5589276"/>
            <a:ext cx="72011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</p:cNvCxnSpPr>
          <p:nvPr/>
        </p:nvCxnSpPr>
        <p:spPr>
          <a:xfrm flipH="1" flipV="1">
            <a:off x="4932046" y="5589276"/>
            <a:ext cx="1800207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7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5292092" y="4689161"/>
            <a:ext cx="360046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35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/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V="1">
            <a:off x="4211931" y="5589276"/>
            <a:ext cx="72011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</p:cNvCxnSpPr>
          <p:nvPr/>
        </p:nvCxnSpPr>
        <p:spPr>
          <a:xfrm flipH="1" flipV="1">
            <a:off x="4932046" y="5589276"/>
            <a:ext cx="1800207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7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4932046" y="4689161"/>
            <a:ext cx="720092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839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335424"/>
              </p:ext>
            </p:extLst>
          </p:nvPr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3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V="1">
            <a:off x="4211931" y="5589276"/>
            <a:ext cx="72011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</p:cNvCxnSpPr>
          <p:nvPr/>
        </p:nvCxnSpPr>
        <p:spPr>
          <a:xfrm flipH="1" flipV="1">
            <a:off x="4572000" y="5589276"/>
            <a:ext cx="2160253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7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4932046" y="4689161"/>
            <a:ext cx="720092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2919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 = ( low + high ) / 2;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high = middle - 1;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low = middle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middle--;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4" name="Group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335424"/>
              </p:ext>
            </p:extLst>
          </p:nvPr>
        </p:nvGraphicFramePr>
        <p:xfrm>
          <a:off x="2591747" y="4869184"/>
          <a:ext cx="612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72000" marR="90000" marT="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141"/>
          <p:cNvSpPr txBox="1">
            <a:spLocks noChangeArrowheads="1"/>
          </p:cNvSpPr>
          <p:nvPr/>
        </p:nvSpPr>
        <p:spPr bwMode="auto">
          <a:xfrm>
            <a:off x="5112069" y="3969069"/>
            <a:ext cx="108002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middle</a:t>
            </a:r>
          </a:p>
        </p:txBody>
      </p:sp>
      <p:sp>
        <p:nvSpPr>
          <p:cNvPr id="21" name="矩形 20"/>
          <p:cNvSpPr/>
          <p:nvPr/>
        </p:nvSpPr>
        <p:spPr>
          <a:xfrm>
            <a:off x="4031931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4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52253" y="612934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3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72115" y="4329115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Ins="72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3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24" name="Text Box 141"/>
          <p:cNvSpPr txBox="1">
            <a:spLocks noChangeArrowheads="1"/>
          </p:cNvSpPr>
          <p:nvPr/>
        </p:nvSpPr>
        <p:spPr bwMode="auto">
          <a:xfrm>
            <a:off x="3491862" y="6129345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low</a:t>
            </a:r>
          </a:p>
        </p:txBody>
      </p:sp>
      <p:cxnSp>
        <p:nvCxnSpPr>
          <p:cNvPr id="18" name="直線單箭頭接點 17"/>
          <p:cNvCxnSpPr>
            <a:stCxn id="21" idx="0"/>
          </p:cNvCxnSpPr>
          <p:nvPr/>
        </p:nvCxnSpPr>
        <p:spPr>
          <a:xfrm flipV="1">
            <a:off x="4211931" y="5589276"/>
            <a:ext cx="720115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41"/>
          <p:cNvSpPr txBox="1">
            <a:spLocks noChangeArrowheads="1"/>
          </p:cNvSpPr>
          <p:nvPr/>
        </p:nvSpPr>
        <p:spPr bwMode="auto">
          <a:xfrm>
            <a:off x="6912299" y="6129345"/>
            <a:ext cx="7200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high</a:t>
            </a:r>
          </a:p>
        </p:txBody>
      </p:sp>
      <p:cxnSp>
        <p:nvCxnSpPr>
          <p:cNvPr id="17" name="直線單箭頭接點 16"/>
          <p:cNvCxnSpPr>
            <a:stCxn id="22" idx="0"/>
          </p:cNvCxnSpPr>
          <p:nvPr/>
        </p:nvCxnSpPr>
        <p:spPr>
          <a:xfrm flipH="1" flipV="1">
            <a:off x="4572000" y="5589276"/>
            <a:ext cx="2160253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871655" y="522923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標楷體"/>
                <a:cs typeface="+mn-cs"/>
              </a:rPr>
              <a:t>7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標楷體"/>
              <a:cs typeface="+mn-cs"/>
            </a:endParaRPr>
          </a:p>
        </p:txBody>
      </p:sp>
      <p:sp>
        <p:nvSpPr>
          <p:cNvPr id="34" name="Text Box 141"/>
          <p:cNvSpPr txBox="1">
            <a:spLocks noChangeArrowheads="1"/>
          </p:cNvSpPr>
          <p:nvPr/>
        </p:nvSpPr>
        <p:spPr bwMode="auto">
          <a:xfrm>
            <a:off x="971540" y="522923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rIns="9000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+mn-cs"/>
              </a:rPr>
              <a:t>number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4572000" y="4689161"/>
            <a:ext cx="1080138" cy="54006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490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findFloor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 &lt;= high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middle = ( low + high ) 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middle - 1;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middle + 1;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middle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middle--;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middle;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47700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3">
      <a:majorFont>
        <a:latin typeface="Georgia"/>
        <a:ea typeface="標楷體"/>
        <a:cs typeface=""/>
      </a:majorFont>
      <a:minorFont>
        <a:latin typeface="Lucida Console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4825</TotalTime>
  <Words>3993</Words>
  <Application>Microsoft Office PowerPoint</Application>
  <PresentationFormat>如螢幕大小 (4:3)</PresentationFormat>
  <Paragraphs>1623</Paragraphs>
  <Slides>35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0" baseType="lpstr">
      <vt:lpstr>Arial</vt:lpstr>
      <vt:lpstr>Georgia</vt:lpstr>
      <vt:lpstr>Lucida Console</vt:lpstr>
      <vt:lpstr>Times New Roman</vt:lpstr>
      <vt:lpstr>Office 佈景主題</vt:lpstr>
      <vt:lpstr>Find Floor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YZU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JCLin</dc:creator>
  <cp:lastModifiedBy>王郁佳</cp:lastModifiedBy>
  <cp:revision>551</cp:revision>
  <dcterms:created xsi:type="dcterms:W3CDTF">2009-07-07T15:33:02Z</dcterms:created>
  <dcterms:modified xsi:type="dcterms:W3CDTF">2023-11-25T13:49:05Z</dcterms:modified>
</cp:coreProperties>
</file>