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416" r:id="rId2"/>
    <p:sldId id="393" r:id="rId3"/>
    <p:sldId id="376" r:id="rId4"/>
    <p:sldId id="404" r:id="rId5"/>
    <p:sldId id="402" r:id="rId6"/>
    <p:sldId id="406" r:id="rId7"/>
    <p:sldId id="408" r:id="rId8"/>
    <p:sldId id="407" r:id="rId9"/>
    <p:sldId id="417" r:id="rId10"/>
    <p:sldId id="418" r:id="rId11"/>
    <p:sldId id="420" r:id="rId12"/>
    <p:sldId id="436" r:id="rId13"/>
    <p:sldId id="437" r:id="rId14"/>
    <p:sldId id="438" r:id="rId15"/>
    <p:sldId id="435" r:id="rId16"/>
    <p:sldId id="439" r:id="rId17"/>
    <p:sldId id="440" r:id="rId18"/>
    <p:sldId id="419" r:id="rId19"/>
  </p:sldIdLst>
  <p:sldSz cx="9144000" cy="6858000" type="screen4x3"/>
  <p:notesSz cx="6946900" cy="92329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Courier" pitchFamily="49" charset="0"/>
        <a:ea typeface="+mn-ea"/>
        <a:cs typeface="Times New Roman" pitchFamily="18" charset="0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Courier" pitchFamily="49" charset="0"/>
        <a:ea typeface="+mn-ea"/>
        <a:cs typeface="Times New Roman" pitchFamily="18" charset="0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Courier" pitchFamily="49" charset="0"/>
        <a:ea typeface="+mn-ea"/>
        <a:cs typeface="Times New Roman" pitchFamily="18" charset="0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Courier" pitchFamily="49" charset="0"/>
        <a:ea typeface="+mn-ea"/>
        <a:cs typeface="Times New Roman" pitchFamily="18" charset="0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Courier" pitchFamily="49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Courier" pitchFamily="49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Courier" pitchFamily="49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Courier" pitchFamily="49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Courier" pitchFamily="49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861">
          <p15:clr>
            <a:srgbClr val="A4A3A4"/>
          </p15:clr>
        </p15:guide>
        <p15:guide id="2" pos="4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8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5940" autoAdjust="0"/>
  </p:normalViewPr>
  <p:slideViewPr>
    <p:cSldViewPr showGuides="1">
      <p:cViewPr varScale="1">
        <p:scale>
          <a:sx n="38" d="100"/>
          <a:sy n="38" d="100"/>
        </p:scale>
        <p:origin x="51" y="48"/>
      </p:cViewPr>
      <p:guideLst>
        <p:guide orient="horz" pos="3861"/>
        <p:guide pos="4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890"/>
    </p:cViewPr>
  </p:sorterViewPr>
  <p:notesViewPr>
    <p:cSldViewPr>
      <p:cViewPr varScale="1">
        <p:scale>
          <a:sx n="59" d="100"/>
          <a:sy n="59" d="100"/>
        </p:scale>
        <p:origin x="-1488" y="-72"/>
      </p:cViewPr>
      <p:guideLst>
        <p:guide orient="horz" pos="2908"/>
        <p:guide pos="2188"/>
      </p:guideLst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t" anchorCtr="0" compatLnSpc="1">
            <a:prstTxWarp prst="textNoShape">
              <a:avLst/>
            </a:prstTxWarp>
          </a:bodyPr>
          <a:lstStyle>
            <a:lvl1pPr algn="l" defTabSz="923925" eaLnBrk="0" hangingPunct="0"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0938"/>
            <a:ext cx="3009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l" defTabSz="923925" eaLnBrk="0" hangingPunct="0"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70938"/>
            <a:ext cx="3009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fld id="{77439E74-1D17-4335-B797-22AC3F4BFF2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73688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017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970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0300" y="685800"/>
            <a:ext cx="4673600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05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5018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018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763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fld id="{27DD27A8-61D8-4E85-A182-FCBFDFAE1A7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59217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48" y="2888931"/>
            <a:ext cx="8641103" cy="1080137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67494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1" y="369000"/>
            <a:ext cx="8280000" cy="6120000"/>
          </a:xfrm>
        </p:spPr>
        <p:txBody>
          <a:bodyPr/>
          <a:lstStyle>
            <a:lvl1pPr>
              <a:defRPr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7227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48" y="188586"/>
            <a:ext cx="4140529" cy="6480828"/>
          </a:xfrm>
        </p:spPr>
        <p:txBody>
          <a:bodyPr/>
          <a:lstStyle>
            <a:lvl1pPr>
              <a:defRPr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751388" y="188913"/>
            <a:ext cx="4141787" cy="6480175"/>
          </a:xfrm>
        </p:spPr>
        <p:txBody>
          <a:bodyPr/>
          <a:lstStyle>
            <a:lvl1pPr>
              <a:defRPr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8873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611493" y="1989138"/>
            <a:ext cx="2520323" cy="3600450"/>
          </a:xfrm>
        </p:spPr>
        <p:txBody>
          <a:bodyPr/>
          <a:lstStyle>
            <a:lvl1pPr marL="0" indent="0">
              <a:defRPr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2821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04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448" y="188585"/>
            <a:ext cx="8641103" cy="12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1448" y="1448747"/>
            <a:ext cx="8641103" cy="4860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4" r:id="rId2"/>
    <p:sldLayoutId id="2147483671" r:id="rId3"/>
    <p:sldLayoutId id="2147483670" r:id="rId4"/>
    <p:sldLayoutId id="2147483669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ts val="0"/>
        </a:spcBef>
        <a:spcAft>
          <a:spcPct val="0"/>
        </a:spcAft>
        <a:defRPr sz="1600" b="0">
          <a:solidFill>
            <a:schemeClr val="tx1"/>
          </a:solidFill>
          <a:latin typeface="Lucida Console" panose="020B0609040504020204" pitchFamily="49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Calculate Semester Grade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388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Five Individual Arrays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971540" y="2528885"/>
            <a:ext cx="2700460" cy="1440184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zh-TW" dirty="0">
                <a:solidFill>
                  <a:schemeClr val="hlink"/>
                </a:solidFill>
                <a:ea typeface="新細明體" pitchFamily="18" charset="-120"/>
              </a:rPr>
              <a:t>char</a:t>
            </a:r>
            <a:r>
              <a:rPr lang="en-US" altLang="zh-TW" dirty="0">
                <a:ea typeface="新細明體" pitchFamily="18" charset="-120"/>
              </a:rPr>
              <a:t> id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4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8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</a:t>
            </a:r>
            <a:r>
              <a:rPr lang="en-US" altLang="zh-TW" dirty="0">
                <a:ea typeface="新細明體" pitchFamily="18" charset="-12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TW" dirty="0">
                <a:solidFill>
                  <a:schemeClr val="hlink"/>
                </a:solidFill>
                <a:ea typeface="新細明體" pitchFamily="18" charset="-120"/>
              </a:rPr>
              <a:t>char</a:t>
            </a:r>
            <a:r>
              <a:rPr lang="en-US" altLang="zh-TW" dirty="0">
                <a:ea typeface="新細明體" pitchFamily="18" charset="-120"/>
              </a:rPr>
              <a:t> name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4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8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</a:t>
            </a:r>
            <a:r>
              <a:rPr lang="en-US" altLang="zh-TW" dirty="0">
                <a:ea typeface="新細明體" pitchFamily="18" charset="-120"/>
              </a:rPr>
              <a:t>;</a:t>
            </a:r>
          </a:p>
          <a:p>
            <a:pPr eaLnBrk="1" hangingPunct="1">
              <a:spcBef>
                <a:spcPts val="300"/>
              </a:spcBef>
            </a:pPr>
            <a:r>
              <a:rPr lang="en-US" altLang="zh-TW" dirty="0">
                <a:solidFill>
                  <a:schemeClr val="hlink"/>
                </a:solidFill>
                <a:ea typeface="新細明體" pitchFamily="18" charset="-120"/>
              </a:rPr>
              <a:t>int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kern="1200" dirty="0">
                <a:solidFill>
                  <a:srgbClr val="000000"/>
                </a:solidFill>
                <a:ea typeface="新細明體" pitchFamily="18" charset="-120"/>
              </a:rPr>
              <a:t>homework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4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</a:t>
            </a:r>
            <a:r>
              <a:rPr lang="en-US" altLang="zh-TW" dirty="0">
                <a:ea typeface="新細明體" pitchFamily="18" charset="-120"/>
              </a:rPr>
              <a:t>;</a:t>
            </a:r>
          </a:p>
          <a:p>
            <a:pPr eaLnBrk="1" hangingPunct="1">
              <a:spcBef>
                <a:spcPts val="300"/>
              </a:spcBef>
            </a:pPr>
            <a:r>
              <a:rPr lang="en-US" altLang="zh-TW" dirty="0">
                <a:solidFill>
                  <a:schemeClr val="hlink"/>
                </a:solidFill>
                <a:ea typeface="新細明體" pitchFamily="18" charset="-120"/>
              </a:rPr>
              <a:t>int</a:t>
            </a:r>
            <a:r>
              <a:rPr lang="en-US" altLang="zh-TW" dirty="0">
                <a:ea typeface="新細明體" pitchFamily="18" charset="-120"/>
              </a:rPr>
              <a:t> midterm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4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</a:t>
            </a:r>
            <a:r>
              <a:rPr lang="en-US" altLang="zh-TW" dirty="0">
                <a:ea typeface="新細明體" pitchFamily="18" charset="-120"/>
              </a:rPr>
              <a:t>;</a:t>
            </a:r>
          </a:p>
          <a:p>
            <a:pPr eaLnBrk="1" hangingPunct="1">
              <a:spcBef>
                <a:spcPts val="300"/>
              </a:spcBef>
            </a:pPr>
            <a:r>
              <a:rPr lang="en-US" altLang="zh-TW" dirty="0">
                <a:solidFill>
                  <a:schemeClr val="hlink"/>
                </a:solidFill>
                <a:ea typeface="新細明體" pitchFamily="18" charset="-120"/>
              </a:rPr>
              <a:t>int</a:t>
            </a:r>
            <a:r>
              <a:rPr lang="en-US" altLang="zh-TW" dirty="0">
                <a:ea typeface="新細明體" pitchFamily="18" charset="-120"/>
              </a:rPr>
              <a:t> final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4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</a:t>
            </a:r>
            <a:r>
              <a:rPr lang="en-US" altLang="zh-TW" dirty="0">
                <a:ea typeface="新細明體" pitchFamily="18" charset="-120"/>
              </a:rPr>
              <a:t>;</a:t>
            </a:r>
          </a:p>
        </p:txBody>
      </p:sp>
      <p:graphicFrame>
        <p:nvGraphicFramePr>
          <p:cNvPr id="377034" name="Group 2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473194"/>
              </p:ext>
            </p:extLst>
          </p:nvPr>
        </p:nvGraphicFramePr>
        <p:xfrm>
          <a:off x="1511609" y="4689161"/>
          <a:ext cx="6660000" cy="1440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homework[0]</a:t>
                      </a:r>
                    </a:p>
                  </a:txBody>
                  <a:tcPr marL="90000" marR="90000" marT="36000" marB="3600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78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midterm[0]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86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final[0]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homework[1]</a:t>
                      </a:r>
                    </a:p>
                  </a:txBody>
                  <a:tcPr marL="90000" marR="90000" marT="36000" marB="3600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65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midterm[1]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91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final[1]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82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homework[2]</a:t>
                      </a:r>
                    </a:p>
                  </a:txBody>
                  <a:tcPr marL="90000" marR="90000" marT="36000" marB="3600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90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midterm[2]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77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final[2]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68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homework[3]</a:t>
                      </a:r>
                    </a:p>
                  </a:txBody>
                  <a:tcPr marL="90000" marR="90000" marT="36000" marB="3600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midterm[3]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84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final[3]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7040" name="Group 2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525446"/>
              </p:ext>
            </p:extLst>
          </p:nvPr>
        </p:nvGraphicFramePr>
        <p:xfrm>
          <a:off x="4031931" y="2528885"/>
          <a:ext cx="4140000" cy="144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id[0]</a:t>
                      </a:r>
                    </a:p>
                  </a:txBody>
                  <a:tcPr marL="72000" marR="72000" marT="36000" marB="3600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932201</a:t>
                      </a: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name[0]</a:t>
                      </a: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Chen</a:t>
                      </a: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id[1]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R="72000" marT="36000" marB="3600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932202</a:t>
                      </a: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name[1]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Lee</a:t>
                      </a: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id[2]</a:t>
                      </a: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R="72000" marT="36000" marB="3600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932203</a:t>
                      </a: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name[2]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Lin</a:t>
                      </a: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id[3]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R="72000" marT="36000" marB="3600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932204</a:t>
                      </a: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name[3]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Wu</a:t>
                      </a: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400">
                <a:ea typeface="新細明體" pitchFamily="18" charset="-120"/>
              </a:rPr>
              <a:t>Array of struct</a:t>
            </a:r>
            <a:endParaRPr lang="zh-TW" altLang="en-US" sz="4400">
              <a:ea typeface="新細明體" pitchFamily="18" charset="-12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431471" y="2168839"/>
            <a:ext cx="2520322" cy="2880367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struct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Grade</a:t>
            </a:r>
          </a:p>
          <a:p>
            <a:pPr>
              <a:spcBef>
                <a:spcPts val="300"/>
              </a:spcBef>
            </a:pP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>
              <a:spcBef>
                <a:spcPts val="300"/>
              </a:spcBef>
            </a:pP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char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id[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8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pPr>
              <a:spcBef>
                <a:spcPts val="300"/>
              </a:spcBef>
            </a:pP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char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name[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8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pPr>
              <a:spcBef>
                <a:spcPts val="300"/>
              </a:spcBef>
            </a:pP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midTerm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final;</a:t>
            </a:r>
          </a:p>
          <a:p>
            <a:pPr>
              <a:spcBef>
                <a:spcPts val="300"/>
              </a:spcBef>
            </a:pP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homework;</a:t>
            </a:r>
          </a:p>
          <a:p>
            <a:pPr>
              <a:spcBef>
                <a:spcPts val="300"/>
              </a:spcBef>
            </a:pP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};</a:t>
            </a:r>
          </a:p>
          <a:p>
            <a:pPr eaLnBrk="1" hangingPunct="1">
              <a:spcBef>
                <a:spcPts val="300"/>
              </a:spcBef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TW" dirty="0">
                <a:ea typeface="新細明體" pitchFamily="18" charset="-120"/>
              </a:rPr>
              <a:t>Grade grades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4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</a:t>
            </a:r>
            <a:r>
              <a:rPr lang="en-US" altLang="zh-TW" dirty="0">
                <a:ea typeface="新細明體" pitchFamily="18" charset="-120"/>
              </a:rPr>
              <a:t>;</a:t>
            </a:r>
            <a:endParaRPr lang="zh-TW" altLang="en-US" dirty="0">
              <a:ea typeface="新細明體" pitchFamily="18" charset="-120"/>
            </a:endParaRPr>
          </a:p>
        </p:txBody>
      </p:sp>
      <p:graphicFrame>
        <p:nvGraphicFramePr>
          <p:cNvPr id="356446" name="Group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226439"/>
              </p:ext>
            </p:extLst>
          </p:nvPr>
        </p:nvGraphicFramePr>
        <p:xfrm>
          <a:off x="3491862" y="2168839"/>
          <a:ext cx="5220000" cy="288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grades[0]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</a:rPr>
                        <a:t>grades[1]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</a:rPr>
                        <a:t>grades[2]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</a:rPr>
                        <a:t>grades[3]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6442" name="Group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007453"/>
              </p:ext>
            </p:extLst>
          </p:nvPr>
        </p:nvGraphicFramePr>
        <p:xfrm>
          <a:off x="5112000" y="2349000"/>
          <a:ext cx="3420000" cy="36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8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932201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Chen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78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86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6445" name="Group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98396"/>
              </p:ext>
            </p:extLst>
          </p:nvPr>
        </p:nvGraphicFramePr>
        <p:xfrm>
          <a:off x="5112000" y="4509276"/>
          <a:ext cx="3420000" cy="36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932204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Wu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84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644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994495"/>
              </p:ext>
            </p:extLst>
          </p:nvPr>
        </p:nvGraphicFramePr>
        <p:xfrm>
          <a:off x="5112000" y="3789184"/>
          <a:ext cx="3420000" cy="36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8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932203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Lin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90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77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68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6443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142424"/>
              </p:ext>
            </p:extLst>
          </p:nvPr>
        </p:nvGraphicFramePr>
        <p:xfrm>
          <a:off x="5112000" y="3069092"/>
          <a:ext cx="3420000" cy="36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8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932202</a:t>
                      </a:r>
                    </a:p>
                  </a:txBody>
                  <a:tcPr marL="90000" marR="90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Lee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65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91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82</a:t>
                      </a: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251448" y="188586"/>
            <a:ext cx="8821127" cy="6480828"/>
          </a:xfrm>
        </p:spPr>
        <p:txBody>
          <a:bodyPr rIns="36000"/>
          <a:lstStyle/>
          <a:p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numStudents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=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2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char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id[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numStudents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8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char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name[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numStudents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][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8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homework[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numStudents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midTerm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[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numStudents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final[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numStudents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dirty="0">
                <a:solidFill>
                  <a:srgbClr val="0080FF"/>
                </a:solidFill>
                <a:latin typeface="Lucida Console"/>
              </a:rPr>
              <a:t>0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; i &lt; numStudents; i++ )</a:t>
            </a:r>
          </a:p>
          <a:p>
            <a:r>
              <a:rPr lang="zh-TW" altLang="en-US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"ID: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id[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"name: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name[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"homework grade: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homework[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"midterm exam grade: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midTerm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"final exam grade: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final[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endl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zh-TW" altLang="en-US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}</a:t>
            </a:r>
          </a:p>
          <a:p>
            <a:r>
              <a:rPr lang="nn-NO" altLang="zh-TW" dirty="0">
                <a:latin typeface="Lucida Console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dirty="0">
                <a:solidFill>
                  <a:srgbClr val="0080FF"/>
                </a:solidFill>
                <a:latin typeface="Lucida Console"/>
              </a:rPr>
              <a:t>0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; i &lt; numStudents; i++ )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"The semester grade of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name[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 is "</a:t>
            </a:r>
            <a:endParaRPr lang="en-US" altLang="zh-TW" dirty="0">
              <a:solidFill>
                <a:prstClr val="black"/>
              </a:solidFill>
              <a:latin typeface="Lucida Console"/>
            </a:endParaRP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  &lt;&lt; (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midTerm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 + homework[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 ) *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0.2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+ final[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 *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0.6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endl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}</a:t>
            </a:r>
          </a:p>
          <a:p>
            <a:endParaRPr lang="zh-TW" altLang="en-US" dirty="0">
              <a:solidFill>
                <a:prstClr val="black"/>
              </a:solidFill>
              <a:latin typeface="Lucida Console"/>
            </a:endParaRPr>
          </a:p>
          <a:p>
            <a:endParaRPr lang="en-US" altLang="zh-TW" dirty="0">
              <a:solidFill>
                <a:prstClr val="black"/>
              </a:solidFill>
              <a:latin typeface="Lucida Conso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numStudents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=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2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Grade grades[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numStudents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endParaRPr lang="zh-TW" altLang="en-US" dirty="0">
              <a:solidFill>
                <a:prstClr val="black"/>
              </a:solidFill>
              <a:latin typeface="Lucida Console"/>
            </a:endParaRPr>
          </a:p>
          <a:p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( i = </a:t>
            </a:r>
            <a:r>
              <a:rPr lang="nn-NO" altLang="zh-TW" dirty="0">
                <a:solidFill>
                  <a:srgbClr val="0080FF"/>
                </a:solidFill>
                <a:latin typeface="Lucida Console"/>
              </a:rPr>
              <a:t>0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; i &lt; numStudents; i++ )</a:t>
            </a:r>
          </a:p>
          <a:p>
            <a:r>
              <a:rPr lang="zh-TW" altLang="en-US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"ID: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grades[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].id;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"name: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grades[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].name;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"midterm exam grade: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grades[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].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midTerm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"final exam grade: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grades[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].final;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"homework grade: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cin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&gt;&gt; grades[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].homework;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cout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endl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zh-TW" altLang="en-US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}</a:t>
            </a:r>
          </a:p>
          <a:p>
            <a:endParaRPr lang="zh-TW" altLang="en-US" dirty="0">
              <a:solidFill>
                <a:prstClr val="black"/>
              </a:solidFill>
              <a:latin typeface="Lucida Console"/>
            </a:endParaRPr>
          </a:p>
          <a:p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( i = </a:t>
            </a:r>
            <a:r>
              <a:rPr lang="nn-NO" altLang="zh-TW" dirty="0">
                <a:solidFill>
                  <a:srgbClr val="0080FF"/>
                </a:solidFill>
                <a:latin typeface="Lucida Console"/>
              </a:rPr>
              <a:t>0</a:t>
            </a:r>
            <a:r>
              <a:rPr lang="nn-NO" altLang="zh-TW" dirty="0">
                <a:solidFill>
                  <a:prstClr val="black"/>
                </a:solidFill>
                <a:latin typeface="Lucida Console"/>
              </a:rPr>
              <a:t>; i &lt; numStudents; i++ )</a:t>
            </a:r>
          </a:p>
          <a:p>
            <a:r>
              <a:rPr lang="en-US" altLang="zh-TW" dirty="0">
                <a:latin typeface="Lucida Console"/>
              </a:rPr>
              <a:t>      </a:t>
            </a:r>
            <a:r>
              <a:rPr lang="en-US" altLang="zh-TW" dirty="0" err="1">
                <a:latin typeface="Lucida Console"/>
              </a:rPr>
              <a:t>cout</a:t>
            </a:r>
            <a:r>
              <a:rPr lang="en-US" altLang="zh-TW" dirty="0">
                <a:latin typeface="Lucida Console"/>
              </a:rPr>
              <a:t>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"The semester grade of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grades[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].name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 is "</a:t>
            </a:r>
            <a:endParaRPr lang="en-US" altLang="zh-TW" dirty="0">
              <a:solidFill>
                <a:prstClr val="black"/>
              </a:solidFill>
              <a:latin typeface="Lucida Console"/>
            </a:endParaRP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     &lt;&lt; ( grades[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].homework + grades[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].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midTerm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) *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0.2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+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          grades[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].final *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0.6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dirty="0" err="1">
                <a:solidFill>
                  <a:prstClr val="black"/>
                </a:solidFill>
                <a:latin typeface="Lucida Console"/>
              </a:rPr>
              <a:t>endl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Vectors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idx="1"/>
          </p:nvPr>
        </p:nvSpPr>
        <p:spPr>
          <a:xfrm>
            <a:off x="71426" y="548632"/>
            <a:ext cx="9001150" cy="5760736"/>
          </a:xfrm>
        </p:spPr>
        <p:txBody>
          <a:bodyPr lIns="36000" rIns="36000"/>
          <a:lstStyle/>
          <a:p>
            <a:pPr lvl="0"/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add(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u1_x,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u1_y,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u2_x,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u2_y,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&amp;u3_x,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&amp;u3_y );</a:t>
            </a:r>
          </a:p>
          <a:p>
            <a:pPr eaLnBrk="1" hangingPunct="1">
              <a:spcBef>
                <a:spcPct val="10000"/>
              </a:spcBef>
              <a:tabLst>
                <a:tab pos="712788" algn="l"/>
                <a:tab pos="1079500" algn="l"/>
              </a:tabLst>
            </a:pPr>
            <a:endParaRPr lang="en-US" altLang="zh-TW" dirty="0">
              <a:solidFill>
                <a:schemeClr val="hlink"/>
              </a:solidFill>
              <a:ea typeface="新細明體" pitchFamily="18" charset="-120"/>
            </a:endParaRPr>
          </a:p>
          <a:p>
            <a:pPr eaLnBrk="1" hangingPunct="1">
              <a:spcBef>
                <a:spcPct val="1000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solidFill>
                  <a:schemeClr val="hlink"/>
                </a:solidFill>
                <a:ea typeface="新細明體" pitchFamily="18" charset="-120"/>
              </a:rPr>
              <a:t>int</a:t>
            </a:r>
            <a:r>
              <a:rPr lang="en-US" altLang="zh-TW" dirty="0">
                <a:ea typeface="新細明體" pitchFamily="18" charset="-120"/>
              </a:rPr>
              <a:t> main()</a:t>
            </a:r>
          </a:p>
          <a:p>
            <a:pPr eaLnBrk="1" hangingPunct="1">
              <a:spcBef>
                <a:spcPct val="1000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ea typeface="新細明體" pitchFamily="18" charset="-120"/>
              </a:rPr>
              <a:t>{</a:t>
            </a:r>
          </a:p>
          <a:p>
            <a:r>
              <a:rPr lang="en-US" altLang="zh-TW" dirty="0">
                <a:latin typeface="Lucida Console"/>
              </a:rPr>
              <a:t>   </a:t>
            </a:r>
            <a:r>
              <a:rPr lang="en-US" altLang="zh-TW" dirty="0" err="1">
                <a:latin typeface="Lucida Console"/>
              </a:rPr>
              <a:t>srand</a:t>
            </a:r>
            <a:r>
              <a:rPr lang="en-US" altLang="zh-TW" dirty="0">
                <a:latin typeface="Lucida Console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</a:rPr>
              <a:t>static_cast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unsigned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&gt;( time(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) ) );</a:t>
            </a:r>
          </a:p>
          <a:p>
            <a:endParaRPr lang="zh-TW" altLang="en-US" dirty="0">
              <a:solidFill>
                <a:prstClr val="black"/>
              </a:solidFill>
              <a:latin typeface="Lucida Console"/>
            </a:endParaRPr>
          </a:p>
          <a:p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v1_x, v1_y, v2_x, v2_y, v3_x, v3_y;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v1_x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v1_y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v2_x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v2_y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eaLnBrk="1" hangingPunct="1">
              <a:spcBef>
                <a:spcPct val="10000"/>
              </a:spcBef>
              <a:tabLst>
                <a:tab pos="712788" algn="l"/>
                <a:tab pos="1079500" algn="l"/>
              </a:tabLst>
            </a:pPr>
            <a:endParaRPr lang="en-US" altLang="zh-TW" sz="900" dirty="0">
              <a:ea typeface="新細明體" pitchFamily="18" charset="-120"/>
            </a:endParaRPr>
          </a:p>
          <a:p>
            <a:r>
              <a:rPr lang="es-ES" altLang="zh-TW" dirty="0">
                <a:latin typeface="Lucida Console"/>
              </a:rPr>
              <a:t>   add( v1_x, v1_y, v2_x, v2_y, v3_x, v3_y );</a:t>
            </a:r>
          </a:p>
          <a:p>
            <a:r>
              <a:rPr lang="en-US" altLang="zh-TW" dirty="0">
                <a:latin typeface="Lucida Console"/>
              </a:rPr>
              <a:t>   </a:t>
            </a:r>
            <a:r>
              <a:rPr lang="en-US" altLang="zh-TW" dirty="0" err="1">
                <a:latin typeface="Lucida Console"/>
              </a:rPr>
              <a:t>cout</a:t>
            </a:r>
            <a:r>
              <a:rPr lang="en-US" altLang="zh-TW" dirty="0">
                <a:latin typeface="Lucida Console"/>
              </a:rPr>
              <a:t> &lt;&lt; 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v1_x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",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v1_y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") + ("</a:t>
            </a:r>
            <a:endParaRPr lang="en-US" altLang="zh-TW" dirty="0">
              <a:solidFill>
                <a:prstClr val="black"/>
              </a:solidFill>
              <a:latin typeface="Lucida Console"/>
            </a:endParaRP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  &lt;&lt; v2_x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",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v2_y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") == ("</a:t>
            </a:r>
            <a:endParaRPr lang="en-US" altLang="zh-TW" dirty="0">
              <a:solidFill>
                <a:prstClr val="black"/>
              </a:solidFill>
              <a:latin typeface="Lucida Console"/>
            </a:endParaRP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     &lt;&lt; v3_x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", 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&lt;&lt; v3_y &lt;&lt;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")\n\n"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eaLnBrk="1" hangingPunct="1">
              <a:spcBef>
                <a:spcPct val="1000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ea typeface="新細明體" pitchFamily="18" charset="-120"/>
              </a:rPr>
              <a:t>}</a:t>
            </a:r>
          </a:p>
          <a:p>
            <a:pPr eaLnBrk="1" hangingPunct="1">
              <a:spcBef>
                <a:spcPct val="10000"/>
              </a:spcBef>
              <a:tabLst>
                <a:tab pos="712788" algn="l"/>
                <a:tab pos="1079500" algn="l"/>
              </a:tabLst>
            </a:pPr>
            <a:endParaRPr lang="en-US" altLang="zh-TW" dirty="0">
              <a:ea typeface="新細明體" pitchFamily="18" charset="-120"/>
            </a:endParaRPr>
          </a:p>
          <a:p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add(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u1_x,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u1_y,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u2_x,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u2_y,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&amp;u3_x, </a:t>
            </a: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&amp;u3_y )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u3_x = u1_x + u2_x;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u3_y = u1_y + u2_y 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idx="1"/>
          </p:nvPr>
        </p:nvSpPr>
        <p:spPr>
          <a:xfrm>
            <a:off x="611495" y="188586"/>
            <a:ext cx="7921012" cy="6480828"/>
          </a:xfrm>
        </p:spPr>
        <p:txBody>
          <a:bodyPr/>
          <a:lstStyle/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r>
              <a:rPr lang="en-US" altLang="zh-TW" dirty="0" err="1">
                <a:solidFill>
                  <a:schemeClr val="hlink"/>
                </a:solidFill>
                <a:ea typeface="新細明體" pitchFamily="18" charset="-120"/>
              </a:rPr>
              <a:t>struct</a:t>
            </a:r>
            <a:r>
              <a:rPr lang="en-US" altLang="zh-TW" dirty="0">
                <a:ea typeface="新細明體" pitchFamily="18" charset="-120"/>
              </a:rPr>
              <a:t> Vector</a:t>
            </a:r>
          </a:p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ea typeface="新細明體" pitchFamily="18" charset="-120"/>
              </a:rPr>
              <a:t>{</a:t>
            </a:r>
          </a:p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ea typeface="新細明體" pitchFamily="18" charset="-120"/>
              </a:rPr>
              <a:t>   </a:t>
            </a:r>
            <a:r>
              <a:rPr lang="en-US" altLang="zh-TW" dirty="0" err="1">
                <a:solidFill>
                  <a:schemeClr val="hlink"/>
                </a:solidFill>
                <a:ea typeface="新細明體" pitchFamily="18" charset="-120"/>
              </a:rPr>
              <a:t>int</a:t>
            </a:r>
            <a:r>
              <a:rPr lang="en-US" altLang="zh-TW" dirty="0">
                <a:ea typeface="新細明體" pitchFamily="18" charset="-120"/>
              </a:rPr>
              <a:t> x;</a:t>
            </a:r>
          </a:p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ea typeface="新細明體" pitchFamily="18" charset="-120"/>
              </a:rPr>
              <a:t>   </a:t>
            </a:r>
            <a:r>
              <a:rPr lang="en-US" altLang="zh-TW" dirty="0" err="1">
                <a:solidFill>
                  <a:schemeClr val="hlink"/>
                </a:solidFill>
                <a:ea typeface="新細明體" pitchFamily="18" charset="-120"/>
              </a:rPr>
              <a:t>int</a:t>
            </a:r>
            <a:r>
              <a:rPr lang="en-US" altLang="zh-TW" dirty="0">
                <a:ea typeface="新細明體" pitchFamily="18" charset="-120"/>
              </a:rPr>
              <a:t> y;</a:t>
            </a:r>
          </a:p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ea typeface="新細明體" pitchFamily="18" charset="-120"/>
              </a:rPr>
              <a:t>};</a:t>
            </a:r>
          </a:p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add( Vector u1, Vector u2, Vector &amp;u3 );</a:t>
            </a:r>
          </a:p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solidFill>
                  <a:schemeClr val="hlink"/>
                </a:solidFill>
                <a:ea typeface="新細明體" pitchFamily="18" charset="-120"/>
              </a:rPr>
              <a:t>int</a:t>
            </a:r>
            <a:r>
              <a:rPr lang="en-US" altLang="zh-TW" dirty="0">
                <a:ea typeface="新細明體" pitchFamily="18" charset="-120"/>
              </a:rPr>
              <a:t> main()</a:t>
            </a:r>
          </a:p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ea typeface="新細明體" pitchFamily="18" charset="-120"/>
              </a:rPr>
              <a:t>{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Vector v1, v2, v3;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v1.x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v1.y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v2.x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v2.y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endParaRPr lang="zh-TW" altLang="en-US" dirty="0">
              <a:solidFill>
                <a:prstClr val="black"/>
              </a:solidFill>
              <a:latin typeface="Lucida Console"/>
            </a:endParaRP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add( v1, v2, v3 );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cout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v1.x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", 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v1.y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") + ("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&lt;&lt; v2.x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", 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v2.y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") == ("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&lt;&lt; v3.x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", 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v3.y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")\n\n"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  <a:endParaRPr lang="en-US" altLang="zh-TW" dirty="0">
              <a:solidFill>
                <a:prstClr val="black"/>
              </a:solidFill>
              <a:latin typeface="Lucida Console"/>
            </a:endParaRPr>
          </a:p>
          <a:p>
            <a:pPr eaLnBrk="1" hangingPunct="1">
              <a:spcBef>
                <a:spcPct val="0"/>
              </a:spcBef>
              <a:tabLst>
                <a:tab pos="712788" algn="l"/>
                <a:tab pos="1079500" algn="l"/>
              </a:tabLst>
            </a:pPr>
            <a:r>
              <a:rPr lang="en-US" altLang="zh-TW" dirty="0">
                <a:ea typeface="新細明體" pitchFamily="18" charset="-120"/>
              </a:rPr>
              <a:t>}</a:t>
            </a:r>
          </a:p>
          <a:p>
            <a:r>
              <a:rPr lang="es-ES" altLang="zh-TW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s-ES" altLang="zh-TW" dirty="0">
                <a:solidFill>
                  <a:prstClr val="black"/>
                </a:solidFill>
                <a:latin typeface="Lucida Console"/>
              </a:rPr>
              <a:t> add( Vector u1, Vector u2, Vector &amp;u3 )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u3.x = u1.x + u2.x;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u3.y = u1.y + u2.y ;</a:t>
            </a:r>
          </a:p>
          <a:p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495" y="188586"/>
            <a:ext cx="7921012" cy="6480828"/>
          </a:xfrm>
        </p:spPr>
        <p:txBody>
          <a:bodyPr/>
          <a:lstStyle/>
          <a:p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Vector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x;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y;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};</a:t>
            </a:r>
          </a:p>
          <a:p>
            <a:pPr lvl="0"/>
            <a:r>
              <a:rPr lang="es-E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Vector add( Vector u1, Vector u2 );</a:t>
            </a: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v1, v2, v3;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v1.x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v1.y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v2.x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v2.y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v3 = add( v1, v2 );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cout &lt;&lt; v1.x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", 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v1.y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") + ("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&lt;&lt; v2.x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", 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v2.y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") == ("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&lt;&lt; v3.x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", 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v3.y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")\n\n"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</a:p>
          <a:p>
            <a:r>
              <a:rPr lang="es-E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Vector add( Vector u1, Vector u2 )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u3;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u3.x = u1.x + u2.x;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u3.y = u2.y + u2.y;</a:t>
            </a:r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u3;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5015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494" y="188586"/>
            <a:ext cx="8281057" cy="6480828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Vector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add( Vector u2 );</a:t>
            </a: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x;</a:t>
            </a: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y;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};</a:t>
            </a:r>
          </a:p>
          <a:p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v1, v2, v3;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v1.x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v1.y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v2.x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/>
              </a:rPr>
              <a:t>   v2.y = rand() % </a:t>
            </a:r>
            <a:r>
              <a:rPr lang="en-US" altLang="zh-TW" dirty="0">
                <a:solidFill>
                  <a:srgbClr val="0080FF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v3 = v1.add( v2 );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cout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v1.x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", 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v1.y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") + ("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&lt;&lt; v2.x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", 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v2.y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") == ("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&lt;&lt; v3.x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", 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v3.y &lt;&lt; </a:t>
            </a:r>
            <a:r>
              <a:rPr lang="en-US" altLang="zh-TW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")\n\n"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</a:p>
          <a:p>
            <a:r>
              <a:rPr lang="es-E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Vector Vector::add( Vector u2 )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u3;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u3.x = x + u2.x;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u3.y = y + u2.y;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u3;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9280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程序 2"/>
          <p:cNvSpPr/>
          <p:nvPr/>
        </p:nvSpPr>
        <p:spPr>
          <a:xfrm>
            <a:off x="36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38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6" name="流程圖: 程序 5"/>
          <p:cNvSpPr/>
          <p:nvPr/>
        </p:nvSpPr>
        <p:spPr>
          <a:xfrm>
            <a:off x="38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252000" y="549000"/>
            <a:ext cx="2879820" cy="234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90000" bIns="90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 main()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v1, v2, v3;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v3 = v1.add( v2 );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3" name="流程圖: 程序 12"/>
          <p:cNvSpPr/>
          <p:nvPr/>
        </p:nvSpPr>
        <p:spPr>
          <a:xfrm>
            <a:off x="252000" y="4689000"/>
            <a:ext cx="4140000" cy="180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36000" bIns="36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Vector Vector::add( Vector &amp;u2 )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u3.x = x + u2.x;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u3.y = y + u2.y;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4" name="流程圖: 程序 13"/>
          <p:cNvSpPr/>
          <p:nvPr/>
        </p:nvSpPr>
        <p:spPr>
          <a:xfrm>
            <a:off x="252000" y="3249000"/>
            <a:ext cx="3601086" cy="108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46800" bIns="468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double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Vector::length()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</a:t>
            </a:r>
            <a:r>
              <a:rPr lang="en-US" altLang="zh-TW" sz="1600" b="0" kern="0" dirty="0" err="1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sqrt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( x*x + y*y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54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56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19" name="流程圖: 程序 18"/>
          <p:cNvSpPr/>
          <p:nvPr/>
        </p:nvSpPr>
        <p:spPr>
          <a:xfrm>
            <a:off x="56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72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0" name="流程圖: 程序 29"/>
          <p:cNvSpPr/>
          <p:nvPr/>
        </p:nvSpPr>
        <p:spPr>
          <a:xfrm>
            <a:off x="74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31" name="流程圖: 程序 30"/>
          <p:cNvSpPr/>
          <p:nvPr/>
        </p:nvSpPr>
        <p:spPr>
          <a:xfrm>
            <a:off x="74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0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v1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38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8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26" name="流程圖: 程序 25"/>
          <p:cNvSpPr/>
          <p:nvPr/>
        </p:nvSpPr>
        <p:spPr>
          <a:xfrm>
            <a:off x="45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56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6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6" name="流程圖: 程序 35"/>
          <p:cNvSpPr/>
          <p:nvPr/>
        </p:nvSpPr>
        <p:spPr>
          <a:xfrm>
            <a:off x="63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3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74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81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1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8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v2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6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v3</a:t>
            </a:r>
            <a:endParaRPr lang="zh-TW" altLang="en-US" sz="2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353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程序 2"/>
          <p:cNvSpPr/>
          <p:nvPr/>
        </p:nvSpPr>
        <p:spPr>
          <a:xfrm>
            <a:off x="36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38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6" name="流程圖: 程序 5"/>
          <p:cNvSpPr/>
          <p:nvPr/>
        </p:nvSpPr>
        <p:spPr>
          <a:xfrm>
            <a:off x="38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252000" y="549000"/>
            <a:ext cx="2879820" cy="234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90000" bIns="90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 main()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v1, v2, v3;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v3 = v1.add( v2 );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3" name="流程圖: 程序 12"/>
          <p:cNvSpPr/>
          <p:nvPr/>
        </p:nvSpPr>
        <p:spPr>
          <a:xfrm>
            <a:off x="252000" y="4689000"/>
            <a:ext cx="4140000" cy="180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36000" bIns="36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Vector Vector::add( Vector &amp;u2 )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u3.x = x + u2.x;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u3.y = y + u2.y;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4" name="流程圖: 程序 13"/>
          <p:cNvSpPr/>
          <p:nvPr/>
        </p:nvSpPr>
        <p:spPr>
          <a:xfrm>
            <a:off x="252000" y="3249000"/>
            <a:ext cx="3601086" cy="108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46800" bIns="468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double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Vector::length()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</a:t>
            </a:r>
            <a:r>
              <a:rPr lang="en-US" altLang="zh-TW" sz="1600" b="0" kern="0" dirty="0" err="1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sqrt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( x*x + y*y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54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56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19" name="流程圖: 程序 18"/>
          <p:cNvSpPr/>
          <p:nvPr/>
        </p:nvSpPr>
        <p:spPr>
          <a:xfrm>
            <a:off x="56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72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0" name="流程圖: 程序 29"/>
          <p:cNvSpPr/>
          <p:nvPr/>
        </p:nvSpPr>
        <p:spPr>
          <a:xfrm>
            <a:off x="74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31" name="流程圖: 程序 30"/>
          <p:cNvSpPr/>
          <p:nvPr/>
        </p:nvSpPr>
        <p:spPr>
          <a:xfrm>
            <a:off x="74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0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v1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38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8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26" name="流程圖: 程序 25"/>
          <p:cNvSpPr/>
          <p:nvPr/>
        </p:nvSpPr>
        <p:spPr>
          <a:xfrm>
            <a:off x="45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56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3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6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6" name="流程圖: 程序 35"/>
          <p:cNvSpPr/>
          <p:nvPr/>
        </p:nvSpPr>
        <p:spPr>
          <a:xfrm>
            <a:off x="63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3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74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81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1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8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v2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6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v3</a:t>
            </a:r>
            <a:endParaRPr lang="zh-TW" altLang="en-US" sz="2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033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程序 2"/>
          <p:cNvSpPr/>
          <p:nvPr/>
        </p:nvSpPr>
        <p:spPr>
          <a:xfrm>
            <a:off x="36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38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6" name="流程圖: 程序 5"/>
          <p:cNvSpPr/>
          <p:nvPr/>
        </p:nvSpPr>
        <p:spPr>
          <a:xfrm>
            <a:off x="38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252000" y="549000"/>
            <a:ext cx="2879820" cy="234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90000" bIns="90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 main()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v1, v2, v3;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v3 = v1.add( v2 );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3" name="流程圖: 程序 12"/>
          <p:cNvSpPr/>
          <p:nvPr/>
        </p:nvSpPr>
        <p:spPr>
          <a:xfrm>
            <a:off x="252000" y="4689000"/>
            <a:ext cx="4140000" cy="180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36000" bIns="36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Vector Vector::add( Vector &amp;u2 )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u3.x = x + u2.x;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u3.y = y + u2.y;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4" name="流程圖: 程序 13"/>
          <p:cNvSpPr/>
          <p:nvPr/>
        </p:nvSpPr>
        <p:spPr>
          <a:xfrm>
            <a:off x="252000" y="3249000"/>
            <a:ext cx="3601086" cy="108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46800" bIns="468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double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Vector::length()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</a:t>
            </a:r>
            <a:r>
              <a:rPr lang="en-US" altLang="zh-TW" sz="1600" b="0" kern="0" dirty="0" err="1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sqrt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( x*x + y*y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54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56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19" name="流程圖: 程序 18"/>
          <p:cNvSpPr/>
          <p:nvPr/>
        </p:nvSpPr>
        <p:spPr>
          <a:xfrm>
            <a:off x="56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72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0" name="流程圖: 程序 29"/>
          <p:cNvSpPr/>
          <p:nvPr/>
        </p:nvSpPr>
        <p:spPr>
          <a:xfrm>
            <a:off x="74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31" name="流程圖: 程序 30"/>
          <p:cNvSpPr/>
          <p:nvPr/>
        </p:nvSpPr>
        <p:spPr>
          <a:xfrm>
            <a:off x="74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0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v1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38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8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26" name="流程圖: 程序 25"/>
          <p:cNvSpPr/>
          <p:nvPr/>
        </p:nvSpPr>
        <p:spPr>
          <a:xfrm>
            <a:off x="45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56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3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6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6" name="流程圖: 程序 35"/>
          <p:cNvSpPr/>
          <p:nvPr/>
        </p:nvSpPr>
        <p:spPr>
          <a:xfrm>
            <a:off x="63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3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74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81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1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47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v2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6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v3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4" name="流程圖: 程序 43"/>
          <p:cNvSpPr/>
          <p:nvPr/>
        </p:nvSpPr>
        <p:spPr>
          <a:xfrm>
            <a:off x="5472000" y="414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5" name="流程圖: 程序 44"/>
          <p:cNvSpPr/>
          <p:nvPr/>
        </p:nvSpPr>
        <p:spPr>
          <a:xfrm>
            <a:off x="5652000" y="486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46" name="流程圖: 程序 45"/>
          <p:cNvSpPr/>
          <p:nvPr/>
        </p:nvSpPr>
        <p:spPr>
          <a:xfrm>
            <a:off x="5652000" y="432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832000" y="360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u3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51" name="流程圖: 程序 50"/>
          <p:cNvSpPr/>
          <p:nvPr/>
        </p:nvSpPr>
        <p:spPr>
          <a:xfrm>
            <a:off x="5652000" y="576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5652000" y="540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53" name="流程圖: 程序 52"/>
          <p:cNvSpPr/>
          <p:nvPr/>
        </p:nvSpPr>
        <p:spPr>
          <a:xfrm>
            <a:off x="6372000" y="576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6372000" y="540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19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u2</a:t>
            </a:r>
            <a:endParaRPr lang="zh-TW" altLang="en-US" sz="2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88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程序 2"/>
          <p:cNvSpPr/>
          <p:nvPr/>
        </p:nvSpPr>
        <p:spPr>
          <a:xfrm>
            <a:off x="36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38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6" name="流程圖: 程序 5"/>
          <p:cNvSpPr/>
          <p:nvPr/>
        </p:nvSpPr>
        <p:spPr>
          <a:xfrm>
            <a:off x="38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252000" y="549000"/>
            <a:ext cx="2879820" cy="234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90000" bIns="90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 main()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v1, v2, v3;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v3 = v1.add( v2 );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3" name="流程圖: 程序 12"/>
          <p:cNvSpPr/>
          <p:nvPr/>
        </p:nvSpPr>
        <p:spPr>
          <a:xfrm>
            <a:off x="252000" y="4689000"/>
            <a:ext cx="4140000" cy="180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36000" bIns="36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Vector Vector::add( Vector &amp;u2 )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u3.x = x + u2.x;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u3.y = y + u2.y;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4" name="流程圖: 程序 13"/>
          <p:cNvSpPr/>
          <p:nvPr/>
        </p:nvSpPr>
        <p:spPr>
          <a:xfrm>
            <a:off x="252000" y="3249000"/>
            <a:ext cx="3601086" cy="108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46800" bIns="468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double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Vector::length()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</a:t>
            </a:r>
            <a:r>
              <a:rPr lang="en-US" altLang="zh-TW" sz="1600" b="0" kern="0" dirty="0" err="1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sqrt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( x*x + y*y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54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56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19" name="流程圖: 程序 18"/>
          <p:cNvSpPr/>
          <p:nvPr/>
        </p:nvSpPr>
        <p:spPr>
          <a:xfrm>
            <a:off x="56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72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0" name="流程圖: 程序 29"/>
          <p:cNvSpPr/>
          <p:nvPr/>
        </p:nvSpPr>
        <p:spPr>
          <a:xfrm>
            <a:off x="74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31" name="流程圖: 程序 30"/>
          <p:cNvSpPr/>
          <p:nvPr/>
        </p:nvSpPr>
        <p:spPr>
          <a:xfrm>
            <a:off x="74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0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v1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38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8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26" name="流程圖: 程序 25"/>
          <p:cNvSpPr/>
          <p:nvPr/>
        </p:nvSpPr>
        <p:spPr>
          <a:xfrm>
            <a:off x="45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56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3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6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6" name="流程圖: 程序 35"/>
          <p:cNvSpPr/>
          <p:nvPr/>
        </p:nvSpPr>
        <p:spPr>
          <a:xfrm>
            <a:off x="63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3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74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81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1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47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v2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6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v3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4" name="流程圖: 程序 43"/>
          <p:cNvSpPr/>
          <p:nvPr/>
        </p:nvSpPr>
        <p:spPr>
          <a:xfrm>
            <a:off x="5472000" y="414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5" name="流程圖: 程序 44"/>
          <p:cNvSpPr/>
          <p:nvPr/>
        </p:nvSpPr>
        <p:spPr>
          <a:xfrm>
            <a:off x="5652000" y="486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46" name="流程圖: 程序 45"/>
          <p:cNvSpPr/>
          <p:nvPr/>
        </p:nvSpPr>
        <p:spPr>
          <a:xfrm>
            <a:off x="5652000" y="432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832000" y="360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u3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51" name="流程圖: 程序 50"/>
          <p:cNvSpPr/>
          <p:nvPr/>
        </p:nvSpPr>
        <p:spPr>
          <a:xfrm>
            <a:off x="5652000" y="576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7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5652000" y="540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53" name="流程圖: 程序 52"/>
          <p:cNvSpPr/>
          <p:nvPr/>
        </p:nvSpPr>
        <p:spPr>
          <a:xfrm>
            <a:off x="6372000" y="576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6372000" y="540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619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u2</a:t>
            </a:r>
            <a:endParaRPr lang="zh-TW" altLang="en-US" sz="2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5159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程序 2"/>
          <p:cNvSpPr/>
          <p:nvPr/>
        </p:nvSpPr>
        <p:spPr>
          <a:xfrm>
            <a:off x="36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38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6" name="流程圖: 程序 5"/>
          <p:cNvSpPr/>
          <p:nvPr/>
        </p:nvSpPr>
        <p:spPr>
          <a:xfrm>
            <a:off x="38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252000" y="549000"/>
            <a:ext cx="2879820" cy="234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90000" bIns="90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 main()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v1, v2, v3;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v3 = v1.add( v2 );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3" name="流程圖: 程序 12"/>
          <p:cNvSpPr/>
          <p:nvPr/>
        </p:nvSpPr>
        <p:spPr>
          <a:xfrm>
            <a:off x="252000" y="4689000"/>
            <a:ext cx="4140000" cy="180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36000" bIns="36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Vector Vector::add( Vector &amp;u2 )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u3.x = x + u2.x;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u3.y = y + u2.y;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4" name="流程圖: 程序 13"/>
          <p:cNvSpPr/>
          <p:nvPr/>
        </p:nvSpPr>
        <p:spPr>
          <a:xfrm>
            <a:off x="252000" y="3249000"/>
            <a:ext cx="3601086" cy="108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46800" bIns="468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double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Vector::length()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</a:t>
            </a:r>
            <a:r>
              <a:rPr lang="en-US" altLang="zh-TW" sz="1600" b="0" kern="0" dirty="0" err="1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sqrt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( x*x + y*y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54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56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19" name="流程圖: 程序 18"/>
          <p:cNvSpPr/>
          <p:nvPr/>
        </p:nvSpPr>
        <p:spPr>
          <a:xfrm>
            <a:off x="56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72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0" name="流程圖: 程序 29"/>
          <p:cNvSpPr/>
          <p:nvPr/>
        </p:nvSpPr>
        <p:spPr>
          <a:xfrm>
            <a:off x="74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31" name="流程圖: 程序 30"/>
          <p:cNvSpPr/>
          <p:nvPr/>
        </p:nvSpPr>
        <p:spPr>
          <a:xfrm>
            <a:off x="74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0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v1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38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8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26" name="流程圖: 程序 25"/>
          <p:cNvSpPr/>
          <p:nvPr/>
        </p:nvSpPr>
        <p:spPr>
          <a:xfrm>
            <a:off x="45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56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3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6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6" name="流程圖: 程序 35"/>
          <p:cNvSpPr/>
          <p:nvPr/>
        </p:nvSpPr>
        <p:spPr>
          <a:xfrm>
            <a:off x="63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3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74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81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1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8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v2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6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v3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7" name="流程圖: 程序 46"/>
          <p:cNvSpPr/>
          <p:nvPr/>
        </p:nvSpPr>
        <p:spPr>
          <a:xfrm>
            <a:off x="7272000" y="414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8" name="流程圖: 程序 47"/>
          <p:cNvSpPr/>
          <p:nvPr/>
        </p:nvSpPr>
        <p:spPr>
          <a:xfrm>
            <a:off x="7452000" y="486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49" name="流程圖: 程序 48"/>
          <p:cNvSpPr/>
          <p:nvPr/>
        </p:nvSpPr>
        <p:spPr>
          <a:xfrm>
            <a:off x="7452000" y="432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5" name="流程圖: 程序 54"/>
          <p:cNvSpPr/>
          <p:nvPr/>
        </p:nvSpPr>
        <p:spPr>
          <a:xfrm>
            <a:off x="7452000" y="576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7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7452000" y="540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57" name="流程圖: 程序 56"/>
          <p:cNvSpPr/>
          <p:nvPr/>
        </p:nvSpPr>
        <p:spPr>
          <a:xfrm>
            <a:off x="8172000" y="576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8172000" y="540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3541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程序 2"/>
          <p:cNvSpPr/>
          <p:nvPr/>
        </p:nvSpPr>
        <p:spPr>
          <a:xfrm>
            <a:off x="36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38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6" name="流程圖: 程序 5"/>
          <p:cNvSpPr/>
          <p:nvPr/>
        </p:nvSpPr>
        <p:spPr>
          <a:xfrm>
            <a:off x="38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252000" y="549000"/>
            <a:ext cx="2879820" cy="234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90000" bIns="90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 main()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v1, v2, v3;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v3 = v1.add( v2 );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3" name="流程圖: 程序 12"/>
          <p:cNvSpPr/>
          <p:nvPr/>
        </p:nvSpPr>
        <p:spPr>
          <a:xfrm>
            <a:off x="252000" y="4689000"/>
            <a:ext cx="4140000" cy="180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36000" bIns="36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Vector Vector::add( Vector &amp;u2 )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u3.x = x + u2.x;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u3.y = y + u2.y;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4" name="流程圖: 程序 13"/>
          <p:cNvSpPr/>
          <p:nvPr/>
        </p:nvSpPr>
        <p:spPr>
          <a:xfrm>
            <a:off x="252000" y="3249000"/>
            <a:ext cx="3601086" cy="108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46800" bIns="468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double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Vector::length()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</a:t>
            </a:r>
            <a:r>
              <a:rPr lang="en-US" altLang="zh-TW" sz="1600" b="0" kern="0" dirty="0" err="1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sqrt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( x*x + y*y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54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56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19" name="流程圖: 程序 18"/>
          <p:cNvSpPr/>
          <p:nvPr/>
        </p:nvSpPr>
        <p:spPr>
          <a:xfrm>
            <a:off x="56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72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0" name="流程圖: 程序 29"/>
          <p:cNvSpPr/>
          <p:nvPr/>
        </p:nvSpPr>
        <p:spPr>
          <a:xfrm>
            <a:off x="74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31" name="流程圖: 程序 30"/>
          <p:cNvSpPr/>
          <p:nvPr/>
        </p:nvSpPr>
        <p:spPr>
          <a:xfrm>
            <a:off x="74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0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v1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38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8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26" name="流程圖: 程序 25"/>
          <p:cNvSpPr/>
          <p:nvPr/>
        </p:nvSpPr>
        <p:spPr>
          <a:xfrm>
            <a:off x="45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56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3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6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6" name="流程圖: 程序 35"/>
          <p:cNvSpPr/>
          <p:nvPr/>
        </p:nvSpPr>
        <p:spPr>
          <a:xfrm>
            <a:off x="63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3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74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7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81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1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8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v2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6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v3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7" name="流程圖: 程序 46"/>
          <p:cNvSpPr/>
          <p:nvPr/>
        </p:nvSpPr>
        <p:spPr>
          <a:xfrm>
            <a:off x="7272000" y="414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8" name="流程圖: 程序 47"/>
          <p:cNvSpPr/>
          <p:nvPr/>
        </p:nvSpPr>
        <p:spPr>
          <a:xfrm>
            <a:off x="7452000" y="486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49" name="流程圖: 程序 48"/>
          <p:cNvSpPr/>
          <p:nvPr/>
        </p:nvSpPr>
        <p:spPr>
          <a:xfrm>
            <a:off x="7452000" y="432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5" name="流程圖: 程序 54"/>
          <p:cNvSpPr/>
          <p:nvPr/>
        </p:nvSpPr>
        <p:spPr>
          <a:xfrm>
            <a:off x="7452000" y="576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7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7452000" y="540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57" name="流程圖: 程序 56"/>
          <p:cNvSpPr/>
          <p:nvPr/>
        </p:nvSpPr>
        <p:spPr>
          <a:xfrm>
            <a:off x="8172000" y="576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8172000" y="540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6794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程序 2"/>
          <p:cNvSpPr/>
          <p:nvPr/>
        </p:nvSpPr>
        <p:spPr>
          <a:xfrm>
            <a:off x="36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38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6" name="流程圖: 程序 5"/>
          <p:cNvSpPr/>
          <p:nvPr/>
        </p:nvSpPr>
        <p:spPr>
          <a:xfrm>
            <a:off x="38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252000" y="549000"/>
            <a:ext cx="2879820" cy="234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90000" bIns="90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 main()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v1, v2, v3;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v1.y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v2.x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v2.y = rand() % 10;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v3 = v1.add( v2 );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3" name="流程圖: 程序 12"/>
          <p:cNvSpPr/>
          <p:nvPr/>
        </p:nvSpPr>
        <p:spPr>
          <a:xfrm>
            <a:off x="252000" y="4689000"/>
            <a:ext cx="4140000" cy="180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36000" bIns="360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Vector Vector::add( Vector &amp;u2 )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Vector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u3.x = x + u2.x;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u3.y = y + u2.y;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u3;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}</a:t>
            </a:r>
          </a:p>
        </p:txBody>
      </p:sp>
      <p:sp>
        <p:nvSpPr>
          <p:cNvPr id="14" name="流程圖: 程序 13"/>
          <p:cNvSpPr/>
          <p:nvPr/>
        </p:nvSpPr>
        <p:spPr>
          <a:xfrm>
            <a:off x="252000" y="3249000"/>
            <a:ext cx="3601086" cy="1080000"/>
          </a:xfrm>
          <a:prstGeom prst="flowChartProcess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</a:ln>
          <a:effectLst/>
        </p:spPr>
        <p:txBody>
          <a:bodyPr lIns="90000" tIns="46800" bIns="4680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double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Vector::length()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/>
                <a:ea typeface="微軟正黑體"/>
                <a:cs typeface="+mn-cs"/>
              </a:rPr>
              <a:t>return</a:t>
            </a:r>
            <a:r>
              <a:rPr lang="es-ES" altLang="zh-TW" sz="1600" b="0" kern="0" dirty="0">
                <a:solidFill>
                  <a:prstClr val="black"/>
                </a:solidFill>
                <a:latin typeface="Lucida Console"/>
                <a:ea typeface="微軟正黑體"/>
                <a:cs typeface="+mn-cs"/>
              </a:rPr>
              <a:t> </a:t>
            </a:r>
            <a:r>
              <a:rPr lang="en-US" altLang="zh-TW" sz="1600" b="0" kern="0" dirty="0" err="1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sqrt</a:t>
            </a: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( x*x + y*y 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b="0" kern="0" dirty="0">
                <a:solidFill>
                  <a:sysClr val="windowText" lastClr="000000"/>
                </a:solidFill>
                <a:latin typeface="Lucida Console"/>
                <a:ea typeface="微軟正黑體"/>
                <a:cs typeface="+mn-cs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54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56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19" name="流程圖: 程序 18"/>
          <p:cNvSpPr/>
          <p:nvPr/>
        </p:nvSpPr>
        <p:spPr>
          <a:xfrm>
            <a:off x="56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7272000" y="729000"/>
            <a:ext cx="1440000" cy="2160000"/>
          </a:xfrm>
          <a:prstGeom prst="flowChartProcess">
            <a:avLst/>
          </a:prstGeom>
          <a:gradFill rotWithShape="1">
            <a:gsLst>
              <a:gs pos="0">
                <a:srgbClr val="2DA2BF">
                  <a:tint val="62000"/>
                  <a:satMod val="180000"/>
                </a:srgbClr>
              </a:gs>
              <a:gs pos="65000">
                <a:srgbClr val="2DA2BF">
                  <a:tint val="32000"/>
                  <a:satMod val="250000"/>
                </a:srgbClr>
              </a:gs>
              <a:gs pos="100000">
                <a:srgbClr val="2DA2BF">
                  <a:tint val="23000"/>
                  <a:satMod val="300000"/>
                </a:srgbClr>
              </a:gs>
            </a:gsLst>
            <a:lin ang="16200000" scaled="0"/>
          </a:gra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0" name="流程圖: 程序 29"/>
          <p:cNvSpPr/>
          <p:nvPr/>
        </p:nvSpPr>
        <p:spPr>
          <a:xfrm>
            <a:off x="7452000" y="144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>
            <a:solidFill>
              <a:sysClr val="windowText" lastClr="000000"/>
            </a:solidFill>
          </a:ln>
          <a:effectLst/>
        </p:spPr>
        <p:txBody>
          <a:bodyPr lIns="90000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2DA2BF"/>
              </a:buClr>
              <a:buSzPct val="68000"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微軟正黑體"/>
                <a:cs typeface="+mn-cs"/>
              </a:rPr>
              <a:t>length</a:t>
            </a:r>
          </a:p>
        </p:txBody>
      </p:sp>
      <p:sp>
        <p:nvSpPr>
          <p:cNvPr id="31" name="流程圖: 程序 30"/>
          <p:cNvSpPr/>
          <p:nvPr/>
        </p:nvSpPr>
        <p:spPr>
          <a:xfrm>
            <a:off x="7452000" y="909000"/>
            <a:ext cx="1080000" cy="360000"/>
          </a:xfrm>
          <a:prstGeom prst="flowChartProcess">
            <a:avLst/>
          </a:prstGeom>
          <a:solidFill>
            <a:srgbClr val="FFC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add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0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v1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38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8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26" name="流程圖: 程序 25"/>
          <p:cNvSpPr/>
          <p:nvPr/>
        </p:nvSpPr>
        <p:spPr>
          <a:xfrm>
            <a:off x="45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56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3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6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6" name="流程圖: 程序 35"/>
          <p:cNvSpPr/>
          <p:nvPr/>
        </p:nvSpPr>
        <p:spPr>
          <a:xfrm>
            <a:off x="63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3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745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7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5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x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8172000" y="2349000"/>
            <a:ext cx="360000" cy="360000"/>
          </a:xfrm>
          <a:prstGeom prst="flowChartProcess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  <a:ea typeface="微軟正黑體"/>
                <a:cs typeface="+mn-cs"/>
              </a:rPr>
              <a:t>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Console" pitchFamily="49" charset="0"/>
              <a:ea typeface="微軟正黑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172000" y="1989000"/>
            <a:ext cx="360000" cy="36000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lstStyle/>
          <a:p>
            <a:r>
              <a:rPr lang="en-US" altLang="zh-TW" sz="1800" b="0" dirty="0">
                <a:latin typeface="+mn-lt"/>
              </a:rPr>
              <a:t>y</a:t>
            </a:r>
            <a:endParaRPr lang="zh-TW" altLang="en-US" sz="1800" b="0" dirty="0">
              <a:latin typeface="+mn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8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v2</a:t>
            </a:r>
            <a:endParaRPr lang="zh-TW" altLang="en-US" sz="2800" b="0" dirty="0">
              <a:latin typeface="+mn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632000" y="189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TW" sz="2800" b="0" dirty="0" err="1">
                <a:latin typeface="+mn-lt"/>
              </a:rPr>
              <a:t>v3</a:t>
            </a:r>
            <a:endParaRPr lang="zh-TW" altLang="en-US" sz="2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0738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47" y="188586"/>
            <a:ext cx="4500575" cy="6480828"/>
          </a:xfrm>
          <a:ln w="12700">
            <a:solidFill>
              <a:schemeClr val="tx1"/>
            </a:solidFill>
          </a:ln>
        </p:spPr>
        <p:txBody>
          <a:bodyPr rIns="72000"/>
          <a:lstStyle/>
          <a:p>
            <a:pPr lvl="0"/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Vector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x;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y;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};</a:t>
            </a:r>
          </a:p>
          <a:p>
            <a:r>
              <a:rPr lang="es-E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Vector add( Vector u1, Vector u2 );</a:t>
            </a: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length( Vector u );</a:t>
            </a:r>
          </a:p>
          <a:p>
            <a:pPr lvl="0"/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/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main()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v1, v2, v3;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v1.x = rand() 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v1.y = rand() 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v2.x = rand() 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v2.y = rand() % 10;</a:t>
            </a:r>
          </a:p>
          <a:p>
            <a:pPr lvl="0"/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v3 = add( v1, v2 );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cout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length( v3 );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</a:p>
          <a:p>
            <a:pPr lvl="0"/>
            <a:r>
              <a:rPr lang="es-E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Vector add( Vector u1, Vector u2 )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u3;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u3.x = u1.x + u2.x;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u3.y = u2.y + u2.y;</a:t>
            </a:r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u3;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932047" y="188913"/>
            <a:ext cx="3960506" cy="6480175"/>
          </a:xfrm>
          <a:ln w="12700">
            <a:solidFill>
              <a:schemeClr val="tx1"/>
            </a:solidFill>
          </a:ln>
        </p:spPr>
        <p:txBody>
          <a:bodyPr rIns="72000"/>
          <a:lstStyle/>
          <a:p>
            <a:pPr lvl="0"/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Vector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: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add( Vector u2 );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   double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length();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x;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y;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};</a:t>
            </a:r>
          </a:p>
          <a:p>
            <a:pPr lvl="0"/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main()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v1, v2, v3;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v1.x = rand() 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v1.y = rand() 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v2.x = rand() 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v2.y = rand() % 10;</a:t>
            </a:r>
          </a:p>
          <a:p>
            <a:pPr lvl="0"/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v3 = v1.add( v2 );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cout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&lt;&lt; v3.length();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</a:p>
          <a:p>
            <a:pPr lvl="0"/>
            <a:r>
              <a:rPr lang="es-E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Vector Vector::add( Vector u2 )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Vector u3;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u3.x = x + u2.x;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u3.y = y + u2.y;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u3;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259940"/>
      </p:ext>
    </p:extLst>
  </p:cSld>
  <p:clrMapOvr>
    <a:masterClrMapping/>
  </p:clrMapOvr>
</p:sld>
</file>

<file path=ppt/theme/theme1.xml><?xml version="1.0" encoding="utf-8"?>
<a:theme xmlns:a="http://schemas.openxmlformats.org/drawingml/2006/main" name="ppt_template_07-25-2002">
  <a:themeElements>
    <a:clrScheme name="">
      <a:dk1>
        <a:srgbClr val="000000"/>
      </a:dk1>
      <a:lt1>
        <a:srgbClr val="FFFFFF"/>
      </a:lt1>
      <a:dk2>
        <a:srgbClr val="000000"/>
      </a:dk2>
      <a:lt2>
        <a:srgbClr val="FF0000"/>
      </a:lt2>
      <a:accent1>
        <a:srgbClr val="0099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FF"/>
      </a:accent5>
      <a:accent6>
        <a:srgbClr val="2D2DB9"/>
      </a:accent6>
      <a:hlink>
        <a:srgbClr val="0000FF"/>
      </a:hlink>
      <a:folHlink>
        <a:srgbClr val="B2B2B2"/>
      </a:folHlink>
    </a:clrScheme>
    <a:fontScheme name="自訂 4">
      <a:majorFont>
        <a:latin typeface="Times New Roman"/>
        <a:ea typeface="新細明體"/>
        <a:cs typeface=""/>
      </a:majorFont>
      <a:minorFont>
        <a:latin typeface="Lucida Console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" pitchFamily="49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" pitchFamily="49" charset="0"/>
            <a:cs typeface="Times New Roman" pitchFamily="18" charset="0"/>
          </a:defRPr>
        </a:defPPr>
      </a:lstStyle>
    </a:lnDef>
  </a:objectDefaults>
  <a:extraClrSchemeLst>
    <a:extraClrScheme>
      <a:clrScheme name="ppt_template_07-25-200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07-25-200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Settings\audrey\Application Data\Microsoft\Templates\ppt_template_07-25-2002.pot</Template>
  <TotalTime>3394</TotalTime>
  <Words>2685</Words>
  <Application>Microsoft Office PowerPoint</Application>
  <PresentationFormat>如螢幕大小 (4:3)</PresentationFormat>
  <Paragraphs>586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Courier</vt:lpstr>
      <vt:lpstr>Helvetica</vt:lpstr>
      <vt:lpstr>Lucida Console</vt:lpstr>
      <vt:lpstr>Times New Roman</vt:lpstr>
      <vt:lpstr>ppt_template_07-25-2002</vt:lpstr>
      <vt:lpstr>Calculate Semester Grade</vt:lpstr>
      <vt:lpstr>Five Individual Arrays</vt:lpstr>
      <vt:lpstr>Array of struct</vt:lpstr>
      <vt:lpstr>PowerPoint 簡報</vt:lpstr>
      <vt:lpstr>PowerPoint 簡報</vt:lpstr>
      <vt:lpstr>Vectors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Deitel &amp; Associates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5 - Pointers and Strings</dc:title>
  <dc:creator>Audrey Lee</dc:creator>
  <cp:lastModifiedBy>王郁佳</cp:lastModifiedBy>
  <cp:revision>335</cp:revision>
  <dcterms:created xsi:type="dcterms:W3CDTF">2002-07-31T13:16:45Z</dcterms:created>
  <dcterms:modified xsi:type="dcterms:W3CDTF">2023-11-19T14:48:50Z</dcterms:modified>
</cp:coreProperties>
</file>