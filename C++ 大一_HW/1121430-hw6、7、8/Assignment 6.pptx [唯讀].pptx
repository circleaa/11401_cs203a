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91"/>
  </p:notesMasterIdLst>
  <p:handoutMasterIdLst>
    <p:handoutMasterId r:id="rId92"/>
  </p:handoutMasterIdLst>
  <p:sldIdLst>
    <p:sldId id="756" r:id="rId2"/>
    <p:sldId id="757" r:id="rId3"/>
    <p:sldId id="809" r:id="rId4"/>
    <p:sldId id="810" r:id="rId5"/>
    <p:sldId id="811" r:id="rId6"/>
    <p:sldId id="751" r:id="rId7"/>
    <p:sldId id="812" r:id="rId8"/>
    <p:sldId id="752" r:id="rId9"/>
    <p:sldId id="753" r:id="rId10"/>
    <p:sldId id="754" r:id="rId11"/>
    <p:sldId id="755" r:id="rId12"/>
    <p:sldId id="759" r:id="rId13"/>
    <p:sldId id="760" r:id="rId14"/>
    <p:sldId id="761" r:id="rId15"/>
    <p:sldId id="716" r:id="rId16"/>
    <p:sldId id="762" r:id="rId17"/>
    <p:sldId id="717" r:id="rId18"/>
    <p:sldId id="718" r:id="rId19"/>
    <p:sldId id="763" r:id="rId20"/>
    <p:sldId id="720" r:id="rId21"/>
    <p:sldId id="721" r:id="rId22"/>
    <p:sldId id="764" r:id="rId23"/>
    <p:sldId id="722" r:id="rId24"/>
    <p:sldId id="723" r:id="rId25"/>
    <p:sldId id="765" r:id="rId26"/>
    <p:sldId id="724" r:id="rId27"/>
    <p:sldId id="725" r:id="rId28"/>
    <p:sldId id="766" r:id="rId29"/>
    <p:sldId id="726" r:id="rId30"/>
    <p:sldId id="727" r:id="rId31"/>
    <p:sldId id="767" r:id="rId32"/>
    <p:sldId id="728" r:id="rId33"/>
    <p:sldId id="729" r:id="rId34"/>
    <p:sldId id="768" r:id="rId35"/>
    <p:sldId id="730" r:id="rId36"/>
    <p:sldId id="731" r:id="rId37"/>
    <p:sldId id="769" r:id="rId38"/>
    <p:sldId id="732" r:id="rId39"/>
    <p:sldId id="733" r:id="rId40"/>
    <p:sldId id="734" r:id="rId41"/>
    <p:sldId id="735" r:id="rId42"/>
    <p:sldId id="736" r:id="rId43"/>
    <p:sldId id="770" r:id="rId44"/>
    <p:sldId id="737" r:id="rId45"/>
    <p:sldId id="738" r:id="rId46"/>
    <p:sldId id="771" r:id="rId47"/>
    <p:sldId id="739" r:id="rId48"/>
    <p:sldId id="740" r:id="rId49"/>
    <p:sldId id="772" r:id="rId50"/>
    <p:sldId id="741" r:id="rId51"/>
    <p:sldId id="742" r:id="rId52"/>
    <p:sldId id="773" r:id="rId53"/>
    <p:sldId id="774" r:id="rId54"/>
    <p:sldId id="775" r:id="rId55"/>
    <p:sldId id="744" r:id="rId56"/>
    <p:sldId id="776" r:id="rId57"/>
    <p:sldId id="745" r:id="rId58"/>
    <p:sldId id="746" r:id="rId59"/>
    <p:sldId id="777" r:id="rId60"/>
    <p:sldId id="779" r:id="rId61"/>
    <p:sldId id="780" r:id="rId62"/>
    <p:sldId id="781" r:id="rId63"/>
    <p:sldId id="782" r:id="rId64"/>
    <p:sldId id="783" r:id="rId65"/>
    <p:sldId id="784" r:id="rId66"/>
    <p:sldId id="785" r:id="rId67"/>
    <p:sldId id="786" r:id="rId68"/>
    <p:sldId id="787" r:id="rId69"/>
    <p:sldId id="788" r:id="rId70"/>
    <p:sldId id="789" r:id="rId71"/>
    <p:sldId id="790" r:id="rId72"/>
    <p:sldId id="791" r:id="rId73"/>
    <p:sldId id="792" r:id="rId74"/>
    <p:sldId id="793" r:id="rId75"/>
    <p:sldId id="794" r:id="rId76"/>
    <p:sldId id="795" r:id="rId77"/>
    <p:sldId id="796" r:id="rId78"/>
    <p:sldId id="797" r:id="rId79"/>
    <p:sldId id="798" r:id="rId80"/>
    <p:sldId id="799" r:id="rId81"/>
    <p:sldId id="800" r:id="rId82"/>
    <p:sldId id="801" r:id="rId83"/>
    <p:sldId id="802" r:id="rId84"/>
    <p:sldId id="803" r:id="rId85"/>
    <p:sldId id="804" r:id="rId86"/>
    <p:sldId id="805" r:id="rId87"/>
    <p:sldId id="806" r:id="rId88"/>
    <p:sldId id="807" r:id="rId89"/>
    <p:sldId id="808" r:id="rId90"/>
  </p:sldIdLst>
  <p:sldSz cx="9144000" cy="6858000" type="screen4x3"/>
  <p:notesSz cx="7010400" cy="9199563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1pPr>
    <a:lvl2pPr marL="4572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2pPr>
    <a:lvl3pPr marL="9144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3pPr>
    <a:lvl4pPr marL="13716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4pPr>
    <a:lvl5pPr marL="18288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4">
          <p15:clr>
            <a:srgbClr val="A4A3A4"/>
          </p15:clr>
        </p15:guide>
        <p15:guide id="2" pos="56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9" autoAdjust="0"/>
    <p:restoredTop sz="94637" autoAdjust="0"/>
  </p:normalViewPr>
  <p:slideViewPr>
    <p:cSldViewPr showGuides="1">
      <p:cViewPr varScale="1">
        <p:scale>
          <a:sx n="52" d="100"/>
          <a:sy n="52" d="100"/>
        </p:scale>
        <p:origin x="1227" y="38"/>
      </p:cViewPr>
      <p:guideLst>
        <p:guide orient="horz" pos="164"/>
        <p:guide pos="56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26"/>
    </p:cViewPr>
  </p:sorterViewPr>
  <p:gridSpacing cx="180000" cy="180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20" tIns="46310" rIns="92620" bIns="46310" numCol="1" anchor="t" anchorCtr="0" compatLnSpc="1">
            <a:prstTxWarp prst="textNoShape">
              <a:avLst/>
            </a:prstTxWarp>
          </a:bodyPr>
          <a:lstStyle>
            <a:lvl1pPr algn="l" defTabSz="925513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20" tIns="46310" rIns="92620" bIns="46310" numCol="1" anchor="t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39188"/>
            <a:ext cx="30384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20" tIns="46310" rIns="92620" bIns="46310" numCol="1" anchor="b" anchorCtr="0" compatLnSpc="1">
            <a:prstTxWarp prst="textNoShape">
              <a:avLst/>
            </a:prstTxWarp>
          </a:bodyPr>
          <a:lstStyle>
            <a:lvl1pPr algn="l" defTabSz="925513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739188"/>
            <a:ext cx="30384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20" tIns="46310" rIns="92620" bIns="46310" numCol="1" anchor="b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fld id="{17456A38-10EA-45D7-A65B-673B8D5382D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00053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427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427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427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1816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5427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630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427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7630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fld id="{7D753045-8815-4174-A5C7-AFFCEFE8F4D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862699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431800" y="549275"/>
            <a:ext cx="8280400" cy="5759450"/>
          </a:xfrm>
        </p:spPr>
        <p:txBody>
          <a:bodyPr/>
          <a:lstStyle>
            <a:lvl1pPr>
              <a:defRPr sz="2200">
                <a:latin typeface="+mj-lt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431800" y="549275"/>
            <a:ext cx="8280400" cy="575945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+mn-lt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85746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369000"/>
            <a:ext cx="8280000" cy="900000"/>
          </a:xfrm>
        </p:spPr>
        <p:txBody>
          <a:bodyPr/>
          <a:lstStyle>
            <a:lvl1pPr>
              <a:defRPr sz="4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057996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260350"/>
            <a:ext cx="80645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12875"/>
            <a:ext cx="8064500" cy="51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0" r:id="rId2"/>
    <p:sldLayoutId id="2147483659" r:id="rId3"/>
    <p:sldLayoutId id="2147483658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hlink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9pPr>
    </p:titleStyle>
    <p:bodyStyle>
      <a:lvl1pPr marL="0" indent="0" algn="l" rtl="0" fontAlgn="base">
        <a:spcBef>
          <a:spcPct val="20000"/>
        </a:spcBef>
        <a:spcAft>
          <a:spcPct val="0"/>
        </a:spcAft>
        <a:buFontTx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You are to determinate </a:t>
                </a:r>
                <a:r>
                  <a:rPr lang="en-US" altLang="zh-TW" i="1" dirty="0"/>
                  <a:t>X</a:t>
                </a:r>
                <a:r>
                  <a:rPr lang="en-US" altLang="zh-TW" dirty="0"/>
                  <a:t> by given 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, from expression </a:t>
                </a:r>
                <a:r>
                  <a:rPr lang="en-US" altLang="zh-TW" i="1" dirty="0"/>
                  <a:t>X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TW" b="0" i="1" smtClean="0"/>
                          <m:t>Y</m:t>
                        </m:r>
                      </m:e>
                    </m:rad>
                  </m:oMath>
                </a14:m>
                <a:r>
                  <a:rPr lang="en-US" altLang="zh-TW" dirty="0"/>
                  <a:t>.</a:t>
                </a:r>
              </a:p>
              <a:p>
                <a:endParaRPr lang="en-US" altLang="zh-TW" dirty="0"/>
              </a:p>
              <a:p>
                <a:pPr lvl="0" fontAlgn="auto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US" altLang="zh-TW" sz="2600" kern="1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Input</a:t>
                </a:r>
              </a:p>
              <a:p>
                <a:r>
                  <a:rPr lang="en-US" altLang="zh-TW" dirty="0"/>
                  <a:t>The first line is the number of test cases, followed by a blank line.</a:t>
                </a:r>
              </a:p>
              <a:p>
                <a:pPr indent="538163"/>
                <a:r>
                  <a:rPr lang="en-US" altLang="zh-TW" dirty="0"/>
                  <a:t>Each test case of the input contains a positive integer 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 (1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≤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≤</a:t>
                </a:r>
                <a:r>
                  <a:rPr lang="en-US" altLang="zh-TW" dirty="0"/>
                  <a:t> 101000), with no blanks or leading zeroes in it.</a:t>
                </a:r>
              </a:p>
              <a:p>
                <a:pPr indent="538163"/>
                <a:r>
                  <a:rPr lang="en-US" altLang="zh-TW" dirty="0"/>
                  <a:t>It is guaranteed, that for given </a:t>
                </a:r>
                <a:r>
                  <a:rPr lang="en-US" altLang="zh-TW" i="1" dirty="0"/>
                  <a:t>Y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X</a:t>
                </a:r>
                <a:r>
                  <a:rPr lang="en-US" altLang="zh-TW" dirty="0"/>
                  <a:t> will be always an integer.</a:t>
                </a:r>
              </a:p>
              <a:p>
                <a:pPr indent="538163"/>
                <a:r>
                  <a:rPr lang="en-US" altLang="zh-TW" dirty="0"/>
                  <a:t>Each test case will be separated by a single line.</a:t>
                </a:r>
              </a:p>
              <a:p>
                <a:endParaRPr lang="en-US" altLang="zh-TW" dirty="0"/>
              </a:p>
              <a:p>
                <a:pPr lvl="0" fontAlgn="auto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US" altLang="zh-TW" sz="2600" kern="1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Output</a:t>
                </a:r>
              </a:p>
              <a:p>
                <a:r>
                  <a:rPr lang="en-US" altLang="zh-TW" dirty="0"/>
                  <a:t>For each test case, your program should print X in the same format as Y was given in input.</a:t>
                </a:r>
              </a:p>
              <a:p>
                <a:pPr indent="538163"/>
                <a:r>
                  <a:rPr lang="en-US" altLang="zh-TW" dirty="0"/>
                  <a:t>Print a blank line between the outputs for two consecutive test cases.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1325" t="-317" r="-13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7512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sz="2600" dirty="0">
                <a:solidFill>
                  <a:srgbClr val="FF0000"/>
                </a:solidFill>
              </a:rPr>
              <a:t>Sample Input</a:t>
            </a:r>
          </a:p>
          <a:p>
            <a:r>
              <a:rPr lang="en-US" altLang="zh-TW" dirty="0">
                <a:solidFill>
                  <a:srgbClr val="000000"/>
                </a:solidFill>
              </a:rPr>
              <a:t>1</a:t>
            </a:r>
          </a:p>
          <a:p>
            <a:endParaRPr lang="en-US" altLang="zh-TW" dirty="0">
              <a:solidFill>
                <a:srgbClr val="000000"/>
              </a:solidFill>
            </a:endParaRPr>
          </a:p>
          <a:p>
            <a:r>
              <a:rPr lang="en-US" altLang="zh-TW" dirty="0">
                <a:solidFill>
                  <a:srgbClr val="000000"/>
                </a:solidFill>
              </a:rPr>
              <a:t>7206604678144</a:t>
            </a:r>
          </a:p>
          <a:p>
            <a:endParaRPr lang="en-US" altLang="zh-TW" dirty="0">
              <a:solidFill>
                <a:srgbClr val="000000"/>
              </a:solidFill>
            </a:endParaRPr>
          </a:p>
          <a:p>
            <a:r>
              <a:rPr lang="en-US" altLang="zh-TW" sz="2600" dirty="0">
                <a:solidFill>
                  <a:srgbClr val="FF0000"/>
                </a:solidFill>
              </a:rPr>
              <a:t>Sample Output</a:t>
            </a:r>
          </a:p>
          <a:p>
            <a:r>
              <a:rPr lang="en-US" altLang="zh-TW" dirty="0">
                <a:solidFill>
                  <a:srgbClr val="000000"/>
                </a:solidFill>
              </a:rPr>
              <a:t>2684512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6540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testCase;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arraySize ] = {};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cin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10 )</a:t>
            </a:r>
          </a:p>
          <a:p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sqrt( atoi( str ) ) &lt;&lt;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fr-FR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717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*digits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+ 3 ]();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++j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digits[ j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- 1 - j ] -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'0'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last =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/ 4;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hugeIntSize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last + 1;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hugeInt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hugeIntSize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]();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last;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hugeInt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] = digits[ 4 * j ] +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digits[ 4 * j + 1 ] * 10 +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digits[ 4 * j + 2 ] * 100 +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digits[ 4 * j + 3 ] * 1000;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sqrtSize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hugeIntSize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+ 1 ) 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squareRoot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sqrtSize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compSquareRoot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hugeInt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squareRoot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hugeIntSize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sqrtSize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squareRoot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sqrtSize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sqrtSize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- 2; j &gt;= 0; j--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cout &lt;&lt;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( 4 ) &lt;&lt;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setfill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'0'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&lt;&lt;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squareRoot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endl;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211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783224"/>
              </p:ext>
            </p:extLst>
          </p:nvPr>
        </p:nvGraphicFramePr>
        <p:xfrm>
          <a:off x="2052000" y="1089000"/>
          <a:ext cx="57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5074875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147123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478384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29298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499886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39863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08016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6983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084207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133109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83253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639562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183664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515923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785092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707548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2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3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5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6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7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8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9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12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13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15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11236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7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2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6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6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6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7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8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\0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677273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50948"/>
              </p:ext>
            </p:extLst>
          </p:nvPr>
        </p:nvGraphicFramePr>
        <p:xfrm>
          <a:off x="2052000" y="2349000"/>
          <a:ext cx="57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5074875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147123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478384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29298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499886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39863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08016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6983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084207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83253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639562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183664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785092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174222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26837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707548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2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3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5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6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7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8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9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12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13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15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11236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8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7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6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6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6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2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7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677273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332000" y="1449000"/>
            <a:ext cx="720000" cy="36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altLang="zh-TW" sz="1600" b="0" dirty="0" err="1">
                <a:solidFill>
                  <a:srgbClr val="0000FF"/>
                </a:solidFill>
                <a:latin typeface="+mn-lt"/>
              </a:rPr>
              <a:t>str</a:t>
            </a:r>
            <a:endParaRPr lang="zh-TW" altLang="en-US" sz="1600" b="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972000" y="2709000"/>
            <a:ext cx="1080000" cy="36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altLang="zh-TW" sz="1600" b="0" dirty="0">
                <a:solidFill>
                  <a:srgbClr val="0000FF"/>
                </a:solidFill>
                <a:latin typeface="+mn-lt"/>
              </a:rPr>
              <a:t>digits</a:t>
            </a:r>
            <a:endParaRPr lang="zh-TW" altLang="en-US" sz="1600" b="0" dirty="0">
              <a:solidFill>
                <a:srgbClr val="0000FF"/>
              </a:solidFill>
              <a:latin typeface="+mn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644858"/>
              </p:ext>
            </p:extLst>
          </p:nvPr>
        </p:nvGraphicFramePr>
        <p:xfrm>
          <a:off x="2052000" y="3609000"/>
          <a:ext cx="57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5074875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880502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147123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478384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29298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499886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139863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080169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6983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084207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83253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639562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183664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785092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174222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707548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15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13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12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9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8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7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6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5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3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2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11236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7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2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6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6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6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7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8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4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677273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972000" y="3969000"/>
            <a:ext cx="1080000" cy="36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altLang="zh-TW" sz="1600" b="0" dirty="0">
                <a:solidFill>
                  <a:srgbClr val="0000FF"/>
                </a:solidFill>
                <a:latin typeface="+mn-lt"/>
              </a:rPr>
              <a:t>digits</a:t>
            </a:r>
            <a:endParaRPr lang="zh-TW" altLang="en-US" sz="1600" b="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972000" y="5229000"/>
            <a:ext cx="1080000" cy="36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altLang="zh-TW" sz="1600" b="0" dirty="0" err="1">
                <a:solidFill>
                  <a:srgbClr val="0000FF"/>
                </a:solidFill>
                <a:latin typeface="+mn-lt"/>
              </a:rPr>
              <a:t>hugeInt</a:t>
            </a:r>
            <a:endParaRPr lang="zh-TW" altLang="en-US" sz="1600" b="0" dirty="0">
              <a:solidFill>
                <a:srgbClr val="0000FF"/>
              </a:solidFill>
              <a:latin typeface="+mn-lt"/>
            </a:endParaRPr>
          </a:p>
        </p:txBody>
      </p:sp>
      <p:graphicFrame>
        <p:nvGraphicFramePr>
          <p:cNvPr id="11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30488"/>
              </p:ext>
            </p:extLst>
          </p:nvPr>
        </p:nvGraphicFramePr>
        <p:xfrm>
          <a:off x="2052000" y="4869000"/>
          <a:ext cx="5760000" cy="72000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936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</a:t>
            </a:r>
          </a:p>
        </p:txBody>
      </p:sp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600289"/>
              </p:ext>
            </p:extLst>
          </p:nvPr>
        </p:nvGraphicFramePr>
        <p:xfrm>
          <a:off x="1872000" y="3429000"/>
          <a:ext cx="522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733584"/>
              </p:ext>
            </p:extLst>
          </p:nvPr>
        </p:nvGraphicFramePr>
        <p:xfrm>
          <a:off x="3672000" y="2169000"/>
          <a:ext cx="252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967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</a:t>
            </a:r>
          </a:p>
        </p:txBody>
      </p:sp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652038"/>
              </p:ext>
            </p:extLst>
          </p:nvPr>
        </p:nvGraphicFramePr>
        <p:xfrm>
          <a:off x="1872000" y="3429000"/>
          <a:ext cx="522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1339732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24990001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733584"/>
              </p:ext>
            </p:extLst>
          </p:nvPr>
        </p:nvGraphicFramePr>
        <p:xfrm>
          <a:off x="3672000" y="2169000"/>
          <a:ext cx="252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245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</a:t>
            </a:r>
          </a:p>
        </p:txBody>
      </p:sp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032428"/>
              </p:ext>
            </p:extLst>
          </p:nvPr>
        </p:nvGraphicFramePr>
        <p:xfrm>
          <a:off x="1872000" y="3429000"/>
          <a:ext cx="522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71824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2679464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24990001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733584"/>
              </p:ext>
            </p:extLst>
          </p:nvPr>
        </p:nvGraphicFramePr>
        <p:xfrm>
          <a:off x="3672000" y="2169000"/>
          <a:ext cx="252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060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</a:t>
            </a:r>
          </a:p>
        </p:txBody>
      </p:sp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861064"/>
              </p:ext>
            </p:extLst>
          </p:nvPr>
        </p:nvGraphicFramePr>
        <p:xfrm>
          <a:off x="1872000" y="3429000"/>
          <a:ext cx="522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71824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2681963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733584"/>
              </p:ext>
            </p:extLst>
          </p:nvPr>
        </p:nvGraphicFramePr>
        <p:xfrm>
          <a:off x="3672000" y="2169000"/>
          <a:ext cx="252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583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</a:t>
            </a:r>
          </a:p>
        </p:txBody>
      </p:sp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375911"/>
              </p:ext>
            </p:extLst>
          </p:nvPr>
        </p:nvGraphicFramePr>
        <p:xfrm>
          <a:off x="1872000" y="3429000"/>
          <a:ext cx="522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72092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1963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733584"/>
              </p:ext>
            </p:extLst>
          </p:nvPr>
        </p:nvGraphicFramePr>
        <p:xfrm>
          <a:off x="3672000" y="2169000"/>
          <a:ext cx="252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04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</a:t>
            </a:r>
          </a:p>
        </p:txBody>
      </p:sp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775108"/>
              </p:ext>
            </p:extLst>
          </p:nvPr>
        </p:nvGraphicFramePr>
        <p:xfrm>
          <a:off x="1872000" y="3429000"/>
          <a:ext cx="522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2092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1963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733584"/>
              </p:ext>
            </p:extLst>
          </p:nvPr>
        </p:nvGraphicFramePr>
        <p:xfrm>
          <a:off x="3672000" y="2169000"/>
          <a:ext cx="252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945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090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737127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772570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709779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034096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888918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9999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052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737127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560412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29648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034096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888918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9999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036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737127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251125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2499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543535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034096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888918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9999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374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737127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696694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2499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66236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034096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966337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3848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023128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187921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2499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356415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2499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078523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347258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689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856061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535468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624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862008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2499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115118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80274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021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856061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074483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624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836521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2499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115118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627175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2498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381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845754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901766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624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74323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1249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99189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794693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2498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10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218370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597365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156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71446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1249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315223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969004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2498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108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218370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449503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156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377167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1249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315223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712757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1248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371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390480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376437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156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922781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624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179258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652363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1248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794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173543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769128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9376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431691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624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00635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139099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1248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6649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173543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825608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9376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02981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624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00635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084198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623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2735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712856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473213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9376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263595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123176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172747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623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369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581407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498106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6721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258997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118733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717243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623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492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581407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115955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6721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484545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118733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855423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310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400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670416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027872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6721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86988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155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217492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153129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310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9116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13505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332898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4025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07724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155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104643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334267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310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4219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13505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810113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4025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275683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155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712490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156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334267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310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2195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245974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712982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4025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34293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233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115546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156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5045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310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6857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07643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392931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4289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78265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233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85851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156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350198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310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5827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07643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967864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4289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813291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233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687383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234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350198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310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818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818228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945437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4289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30359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910538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234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254544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310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1549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007467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669540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3984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22075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639372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234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83547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310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0006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007467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714426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3984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176386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639372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234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299289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8341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086622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082461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3984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441046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252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462087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234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954474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2273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334020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520308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3504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154795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252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831324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234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912010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6375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46016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809706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3504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91815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252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536174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253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866465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8189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252756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582764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3504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356276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214260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253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531383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324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48565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724734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8644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24518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026683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253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823194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2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48565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153785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8644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03597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493911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823194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104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649098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257954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8644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43946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803683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567923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8675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240659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237548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1289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11085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04872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338895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7190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240659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744143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1289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23267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14508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338895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70706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684029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636640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1289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68620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984044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889179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9008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54993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450384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2361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5824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40331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064694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271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5093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54993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989431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2361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63201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40331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583976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0801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847813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323963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2361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091315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146443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829350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8259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401663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91945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1824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29803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155131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82379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6019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6599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007476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379511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1824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352457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87944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708026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9999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2194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007476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306517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1824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935987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87944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708026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9999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8520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753307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48791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2092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1963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089763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257419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706934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9999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78354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753307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48791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2092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1963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089763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257419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636376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4575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605766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462967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2092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1963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792858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2499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685114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619225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0308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347282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1958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0088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45550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2499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25585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466999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8957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347282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1958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0088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45550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2499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10740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2500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466999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5078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347282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1958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0088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835233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3749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10740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2500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466999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3675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05421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2025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0869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835233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3749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10740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2500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466999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9465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05421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2025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0869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835233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3749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291534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3750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466999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3201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05421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2025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0869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5001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45701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4374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291534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3750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466999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2779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583432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2058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6377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1876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45701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4374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291534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3750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466999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5474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583432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2058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6377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1876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45701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4374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698159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4375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466999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283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583432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2058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6377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1876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63283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4686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698159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4375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466999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365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34087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2075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3891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8596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63283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4686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698159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4375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466999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4998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6881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34087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2075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3891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8596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63283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4686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698159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4375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05410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4685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744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34087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2075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3891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8596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14745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4530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698159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4375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05410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4685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376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688894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0132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0900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14745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4530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698159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4375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05410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4685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3401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688894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0132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0900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14745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4530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698159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4375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5663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6746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688894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0132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0900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53064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4452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698159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4375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5663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6831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539707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8254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0304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53064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4452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698159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4375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5663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1042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539707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8254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0304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53064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4452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522911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4453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5663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3933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539707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8254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0304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3534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4491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522911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4453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5663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8797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273273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9192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9081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3534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4491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522911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4453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5663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7150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273273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9192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9081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3534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4491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14380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4492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5663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2727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273273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9192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9081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79069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14380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4492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5663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8051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18454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9394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0100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79069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14380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4492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5663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0818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18454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9394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0100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79069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0697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5663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28809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18454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9394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0100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36604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0697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5663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5178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935139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4763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0400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36604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0697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5663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53401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935139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4763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0400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366040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4520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0697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859986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6953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935139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4763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0400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362096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0697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859986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6471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604348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2078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5225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362096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0697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859986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4519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823929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604348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2078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5225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362096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0697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52291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035910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604348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2078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5225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24062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0697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52291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57523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85043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24062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0697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52291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42174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Square Root</a:t>
            </a:r>
          </a:p>
        </p:txBody>
      </p:sp>
      <p:graphicFrame>
        <p:nvGraphicFramePr>
          <p:cNvPr id="27377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81715"/>
              </p:ext>
            </p:extLst>
          </p:nvPr>
        </p:nvGraphicFramePr>
        <p:xfrm>
          <a:off x="1692000" y="2169000"/>
          <a:ext cx="3960000" cy="720000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hugeInt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85043"/>
              </p:ext>
            </p:extLst>
          </p:nvPr>
        </p:nvGraphicFramePr>
        <p:xfrm>
          <a:off x="1872000" y="5049000"/>
          <a:ext cx="3780000" cy="720000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3765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square</a:t>
                      </a:r>
                    </a:p>
                  </a:txBody>
                  <a:tcPr marL="7200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2066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0467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8144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240622"/>
              </p:ext>
            </p:extLst>
          </p:nvPr>
        </p:nvGraphicFramePr>
        <p:xfrm>
          <a:off x="3492000" y="3609000"/>
          <a:ext cx="2160000" cy="72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sqrt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268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06975"/>
              </p:ext>
            </p:extLst>
          </p:nvPr>
        </p:nvGraphicFramePr>
        <p:xfrm>
          <a:off x="133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low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522912"/>
              </p:ext>
            </p:extLst>
          </p:nvPr>
        </p:nvGraphicFramePr>
        <p:xfrm>
          <a:off x="6372000" y="3969000"/>
          <a:ext cx="1440000" cy="36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4514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489335"/>
      </p:ext>
    </p:extLst>
  </p:cSld>
  <p:clrMapOvr>
    <a:masterClrMapping/>
  </p:clrMapOvr>
</p:sld>
</file>

<file path=ppt/theme/theme1.xml><?xml version="1.0" encoding="utf-8"?>
<a:theme xmlns:a="http://schemas.openxmlformats.org/drawingml/2006/main" name="ppt_template_07-25-2002">
  <a:themeElements>
    <a:clrScheme name="">
      <a:dk1>
        <a:srgbClr val="000000"/>
      </a:dk1>
      <a:lt1>
        <a:srgbClr val="FFFFFF"/>
      </a:lt1>
      <a:dk2>
        <a:srgbClr val="000000"/>
      </a:dk2>
      <a:lt2>
        <a:srgbClr val="FF0000"/>
      </a:lt2>
      <a:accent1>
        <a:srgbClr val="0099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CAFF"/>
      </a:accent5>
      <a:accent6>
        <a:srgbClr val="2D2DB9"/>
      </a:accent6>
      <a:hlink>
        <a:srgbClr val="0000FF"/>
      </a:hlink>
      <a:folHlink>
        <a:srgbClr val="B2B2B2"/>
      </a:folHlink>
    </a:clrScheme>
    <a:fontScheme name="自訂 4">
      <a:majorFont>
        <a:latin typeface="Times New Roman"/>
        <a:ea typeface="新細明體"/>
        <a:cs typeface=""/>
      </a:majorFont>
      <a:minorFont>
        <a:latin typeface="Lucida Console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cs typeface="Times New Roman" pitchFamily="18" charset="0"/>
          </a:defRPr>
        </a:defPPr>
      </a:lstStyle>
    </a:lnDef>
  </a:objectDefaults>
  <a:extraClrSchemeLst>
    <a:extraClrScheme>
      <a:clrScheme name="ppt_template_07-25-200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07-25-200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Designs\ppt_template_07-25-2002.pot</Template>
  <TotalTime>5604</TotalTime>
  <Words>2831</Words>
  <Application>Microsoft Office PowerPoint</Application>
  <PresentationFormat>如螢幕大小 (4:3)</PresentationFormat>
  <Paragraphs>2374</Paragraphs>
  <Slides>89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89</vt:i4>
      </vt:variant>
    </vt:vector>
  </HeadingPairs>
  <TitlesOfParts>
    <vt:vector size="94" baseType="lpstr">
      <vt:lpstr>Cambria Math</vt:lpstr>
      <vt:lpstr>Courier New</vt:lpstr>
      <vt:lpstr>Lucida Console</vt:lpstr>
      <vt:lpstr>Times New Roman</vt:lpstr>
      <vt:lpstr>ppt_template_07-25-2002</vt:lpstr>
      <vt:lpstr>PowerPoint 簡報</vt:lpstr>
      <vt:lpstr>PowerPoint 簡報</vt:lpstr>
      <vt:lpstr>PowerPoint 簡報</vt:lpstr>
      <vt:lpstr>PowerPoint 簡報</vt:lpstr>
      <vt:lpstr>PowerPoint 簡報</vt:lpstr>
      <vt:lpstr>Square</vt:lpstr>
      <vt:lpstr>Square</vt:lpstr>
      <vt:lpstr>Square</vt:lpstr>
      <vt:lpstr>Square</vt:lpstr>
      <vt:lpstr>Square</vt:lpstr>
      <vt:lpstr>Square</vt:lpstr>
      <vt:lpstr>PowerPoint 簡報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PowerPoint 簡報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  <vt:lpstr>Square Root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2 - Control Structures</dc:title>
  <dc:creator>kalid</dc:creator>
  <cp:lastModifiedBy>王郁佳</cp:lastModifiedBy>
  <cp:revision>1378</cp:revision>
  <dcterms:created xsi:type="dcterms:W3CDTF">2000-06-12T17:02:08Z</dcterms:created>
  <dcterms:modified xsi:type="dcterms:W3CDTF">2023-11-25T13:49:27Z</dcterms:modified>
</cp:coreProperties>
</file>